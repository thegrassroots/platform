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665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0591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81328"/>
            <a:ext cx="201168" cy="20116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9264" y="141732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TECHNICAL TEAM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Grassroots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i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overview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6E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the data model, the status engine, operations, and where the seams are if you intend to build on it.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800600"/>
            <a:ext cx="7498080" cy="1143000"/>
          </a:xfrm>
          <a:prstGeom prst="roundRect">
            <a:avLst>
              <a:gd name="adj" fmla="val 6400"/>
            </a:avLst>
          </a:prstGeom>
          <a:solidFill>
            <a:srgbClr val="2A5F3B"/>
          </a:solidFill>
          <a:ln w="6350">
            <a:solidFill>
              <a:srgbClr val="2A5F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93776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The data in every screenshot is invented.  </a:t>
            </a:r>
            <a:r>
              <a:rPr lang="en-US" sz="1250" dirty="0">
                <a:solidFill>
                  <a:srgbClr val="D6E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seed is generated by tools/gen_seed.py purely to exercise the functions in testing and demos. Treat every figure as a fixture, never as a result.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503920" y="480060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github.com/thegrassroots/platform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8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is no application server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downloads a handful of static files and does everything locally: it builds the database, computes every status, projects the map and renders every chart. Every other fact about this platform follows from that one decision.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6949440" cy="3200400"/>
          </a:xfrm>
          <a:prstGeom prst="roundRect">
            <a:avLst>
              <a:gd name="adj" fmla="val 2286"/>
            </a:avLst>
          </a:prstGeom>
          <a:solidFill>
            <a:srgbClr val="F1F4F0"/>
          </a:solidFill>
          <a:ln w="6350">
            <a:solidFill>
              <a:srgbClr val="F1F4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724912"/>
            <a:ext cx="6492240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821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      App shell — classic &lt;script&gt; tags, no modules, no bundler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821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styles.css      Visual system (light / dark)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821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schema.sql      Canonical SQLite DDL — the source of truth for the model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821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data/world.js   Simplified Natural Earth 110m outlines   → window.WORLD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821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js/seed.js      The sample database (~6.9 MB)            → window.SEED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821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js/db.js        IndexedDB store mirroring schema.sql     → window.DB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821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js/app.js       UI: map, projection, facets, insights, status engine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821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tools/gen_seed.py    Regenerates js/seed.js (deterministic)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821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tools/proc_world.py  Regenerates data/world.js from GeoJSON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863840" y="2560320"/>
            <a:ext cx="3703320" cy="3200400"/>
          </a:xfrm>
          <a:prstGeom prst="roundRect">
            <a:avLst>
              <a:gd name="adj" fmla="val 2286"/>
            </a:avLst>
          </a:prstGeom>
          <a:solidFill>
            <a:srgbClr val="F3F8F3"/>
          </a:solidFill>
          <a:ln w="6350">
            <a:solidFill>
              <a:srgbClr val="F3F8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92440" y="2788920"/>
            <a:ext cx="3246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8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runtime dependency
</a:t>
            </a:r>
            <a:r>
              <a:rPr lang="en-US" sz="12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MapLibre GL JS 4.7.1, from unpkg, draws the basemap. Everything else is vanilla JavaScript against native browser APIs.
Scripts load in dependency order — seed, db, app — each with a ?v= cache-busting token.
</a:t>
            </a:r>
            <a:r>
              <a:rPr lang="en-US" sz="1250" b="1" dirty="0">
                <a:solidFill>
                  <a:srgbClr val="B5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Bump the token whenever you change a file, or returning browsers keep running the old copy.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8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"SQLite" without SQLite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 have no SQLite engine, and the platform avoids heavyweight dependencies — which rules out sql.js and WASM. So js/db.js implements a relational store over IndexedDB, with a hot in-memory copy for fast joins and filters.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3F8F3"/>
          </a:solidFill>
          <a:ln w="6350">
            <a:solidFill>
              <a:srgbClr val="F3F8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834640"/>
            <a:ext cx="256032" cy="256032"/>
          </a:xfrm>
          <a:prstGeom prst="ellipse">
            <a:avLst/>
          </a:prstGeom>
          <a:solidFill>
            <a:srgbClr val="3D8A54"/>
          </a:solidFill>
          <a:ln w="12700">
            <a:solidFill>
              <a:srgbClr val="3D8A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2004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Compatible by construction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58444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tables, keys and columns to schema.sql. The DDL is real and loads directly:  sqlite3 rbm.db &lt; schema.sql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260604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3F8F3"/>
          </a:solidFill>
          <a:ln w="6350">
            <a:solidFill>
              <a:srgbClr val="F3F8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2834640"/>
            <a:ext cx="256032" cy="256032"/>
          </a:xfrm>
          <a:prstGeom prst="ellipse">
            <a:avLst/>
          </a:prstGeom>
          <a:solidFill>
            <a:srgbClr val="3D8A54"/>
          </a:solidFill>
          <a:ln w="12700">
            <a:solidFill>
              <a:srgbClr val="3D8A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32004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round-trips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358444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DB.exportSQL() emits INSERT statements that load into a database created from schema.sql. That is the exit route — there is no lock-in to argue about.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260604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BF3F0"/>
          </a:solidFill>
          <a:ln w="6350">
            <a:solidFill>
              <a:srgbClr val="FB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2834640"/>
            <a:ext cx="256032" cy="256032"/>
          </a:xfrm>
          <a:prstGeom prst="ellipse">
            <a:avLst/>
          </a:prstGeom>
          <a:solidFill>
            <a:srgbClr val="F5A04D"/>
          </a:solidFill>
          <a:ln w="12700">
            <a:solidFill>
              <a:srgbClr val="F5A0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32004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API the UI reads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21040" y="358444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DB.tables.&lt;table&gt; is an array of plain objects per table; DB._idx carries the lookups. Note: there is no DB.all().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257800"/>
            <a:ext cx="10927080" cy="1280160"/>
          </a:xfrm>
          <a:prstGeom prst="roundRect">
            <a:avLst>
              <a:gd name="adj" fmla="val 5714"/>
            </a:avLst>
          </a:prstGeom>
          <a:solidFill>
            <a:srgbClr val="F1F4F0"/>
          </a:solidFill>
          <a:ln w="6350">
            <a:solidFill>
              <a:srgbClr val="F1F4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422392"/>
            <a:ext cx="104698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821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DB.tables.user            // whole table, as objects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821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DB._idx.userByUsername    // lookup by key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821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DB._idx.countryByIso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821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DB.insert / DB.persist / DB.remove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8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Thirteen tables, one results chain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0" cy="2286000"/>
          </a:xfrm>
          <a:prstGeom prst="roundRect">
            <a:avLst>
              <a:gd name="adj" fmla="val 3200"/>
            </a:avLst>
          </a:prstGeom>
          <a:solidFill>
            <a:srgbClr val="F1F4F0"/>
          </a:solidFill>
          <a:ln w="6350">
            <a:solidFill>
              <a:srgbClr val="F1F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93392"/>
            <a:ext cx="521208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821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821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 --&lt; country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821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programme --&lt; result      (plan-scoped, self-referential: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821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|          impact &gt; outcome &gt; output)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821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+--&lt; indicator   (baseline, target,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821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|         means of verification)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821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+--&lt; measurement   (the activities)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583680" y="1828800"/>
            <a:ext cx="4983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8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is self-referential </a:t>
            </a:r>
            <a:r>
              <a:rPr lang="en-US" sz="13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parent_id: an Impact has Outcomes, an Outcome has Outputs. Every primary KPI hangs off an Output.
</a:t>
            </a:r>
            <a:r>
              <a:rPr lang="en-US" sz="1300" b="1" dirty="0">
                <a:solidFill>
                  <a:srgbClr val="18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Plan-scoped vs universal. </a:t>
            </a:r>
            <a:r>
              <a:rPr lang="en-US" sz="13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projects carry a plan_id; the app scopes the whole view to one active plan. Countries, regions, users, donors and beneficiary measures are shared across every plan.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343400"/>
          <a:ext cx="10927080" cy="91440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 plans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Country-scoped, donor-funded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six continents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 / Outcome /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237 countries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KPIs with baseline &amp; 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56 with projects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project_kpi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primaries a project reports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section: hq | 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activities themselves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Funders + colour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beneficiary_type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measure list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6217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beneficiary — who benefited from a given measurement, by type and value — is the thirteenth.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STATUS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8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metrics, computed on every render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heart of the platform. Status is never stored and never chosen — it is derived from the reported data each time it is displayed.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F3F8F3"/>
          </a:solidFill>
          <a:ln w="6350">
            <a:solidFill>
              <a:srgbClr val="F3F8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606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8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— ignores time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821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progress = (current − baseline) ÷ (target − baseline)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is the baseline, 100% is the target. Negative means the result regressed below where it started.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242316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F3F8F3"/>
          </a:solidFill>
          <a:ln w="6350">
            <a:solidFill>
              <a:srgbClr val="F3F8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2606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8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— against the clock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2971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821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performance = progress ÷ elapsed_fraction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46520" y="33375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elapsed_fraction = (today − start) ÷ (end − start), clamped to [0.02, 1]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34340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DF0E4"/>
          </a:solidFill>
          <a:ln w="6350">
            <a:solidFill>
              <a:srgbClr val="FDF0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48056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example. </a:t>
            </a:r>
            <a:r>
              <a:rPr lang="en-US" sz="1200" dirty="0">
                <a:solidFill>
                  <a:srgbClr val="18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12-month KPI, target 12, at end-June (≈0.5 elapsed): 3 done → 25% ÷ 0.5 = 50% performance (behind). 6 done → 50% ÷ 0.5 = 100% (on pace).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4334256"/>
            <a:ext cx="182880" cy="182880"/>
          </a:xfrm>
          <a:prstGeom prst="ellipse">
            <a:avLst/>
          </a:prstGeom>
          <a:solidFill>
            <a:srgbClr val="4FA9E8"/>
          </a:solidFill>
          <a:ln w="12700">
            <a:solidFill>
              <a:srgbClr val="4FA9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42976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8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Track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183880" y="42976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100%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0" y="4608576"/>
            <a:ext cx="182880" cy="182880"/>
          </a:xfrm>
          <a:prstGeom prst="ellipse">
            <a:avLst/>
          </a:prstGeom>
          <a:solidFill>
            <a:srgbClr val="2FA84F"/>
          </a:solidFill>
          <a:ln w="12700">
            <a:solidFill>
              <a:srgbClr val="2FA8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45720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8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183880" y="45720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– 100%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882896"/>
            <a:ext cx="182880" cy="182880"/>
          </a:xfrm>
          <a:prstGeom prst="ellipse">
            <a:avLst/>
          </a:prstGeom>
          <a:solidFill>
            <a:srgbClr val="F5A04D"/>
          </a:solidFill>
          <a:ln w="12700">
            <a:solidFill>
              <a:srgbClr val="F5A0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4846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8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183880" y="4846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– 74%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0" y="5157216"/>
            <a:ext cx="182880" cy="1828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51206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8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Track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183880" y="51206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49%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0" y="5431536"/>
            <a:ext cx="182880" cy="182880"/>
          </a:xfrm>
          <a:prstGeom prst="ellipse">
            <a:avLst/>
          </a:prstGeom>
          <a:solidFill>
            <a:srgbClr val="8C1C3A"/>
          </a:solidFill>
          <a:ln w="12700">
            <a:solidFill>
              <a:srgbClr val="8C1C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53949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8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Track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183880" y="53949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0% — regressed below baseline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0" y="5705856"/>
            <a:ext cx="182880" cy="182880"/>
          </a:xfrm>
          <a:prstGeom prst="ellipse">
            <a:avLst/>
          </a:prstGeom>
          <a:solidFill>
            <a:srgbClr val="B9C2BB"/>
          </a:solidFill>
          <a:ln w="12700">
            <a:solidFill>
              <a:srgbClr val="B9C2B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5669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8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83880" y="56692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reported yet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0080" y="6053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metrics share the same bands, because 0% is always the baseline and 100% always the target. The map toggle picks which one colours the view.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4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ROLL-UP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report moves every number above it.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6E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attach to Outputs. Output status rolls up to Outcome, Outcome to Impact, Impact to Plan. A single measurement logged against one KPI in one country re-derives the whole chain above it — with no consolidation step, because nothing was ever stored to consolidate.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56616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2A5F3B"/>
          </a:solidFill>
          <a:ln w="6350">
            <a:solidFill>
              <a:srgbClr val="2A5F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5661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58568" y="3566160"/>
            <a:ext cx="256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14600" y="356616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2A5F3B"/>
          </a:solidFill>
          <a:ln w="6350">
            <a:solidFill>
              <a:srgbClr val="2A5F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35661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33088" y="3566160"/>
            <a:ext cx="256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89120" y="356616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2A5F3B"/>
          </a:solidFill>
          <a:ln w="6350">
            <a:solidFill>
              <a:srgbClr val="2A5F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35661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07608" y="3566160"/>
            <a:ext cx="256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63640" y="356616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2A5F3B"/>
          </a:solidFill>
          <a:ln w="6350">
            <a:solidFill>
              <a:srgbClr val="2A5F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35661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882128" y="3566160"/>
            <a:ext cx="256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38160" y="356616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2A5F3B"/>
          </a:solidFill>
          <a:ln w="6350">
            <a:solidFill>
              <a:srgbClr val="2A5F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35661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756648" y="3566160"/>
            <a:ext cx="256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012680" y="356616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2A5F3B"/>
          </a:solidFill>
          <a:ln w="6350">
            <a:solidFill>
              <a:srgbClr val="2A5F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12680" y="35661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4617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to the right of the first box is derived. Nothing in it is typed by anyone.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40080" y="5212080"/>
            <a:ext cx="10927080" cy="822960"/>
          </a:xfrm>
          <a:prstGeom prst="roundRect">
            <a:avLst>
              <a:gd name="adj" fmla="val 8889"/>
            </a:avLst>
          </a:prstGeom>
          <a:solidFill>
            <a:srgbClr val="2A5F3B"/>
          </a:solidFill>
          <a:ln w="6350">
            <a:solidFill>
              <a:srgbClr val="2A5F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3035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In the demo seed: </a:t>
            </a:r>
            <a:r>
              <a:rPr lang="en-US" sz="1250" dirty="0">
                <a:solidFill>
                  <a:srgbClr val="D6E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15,084 invented measurements across 3,217 indicators, 2,968 results and 56 country programmes — generated to prove the roll-up works at scale, not to report anything.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8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orthogonal fields</a:t>
            </a:r>
            <a:endParaRPr lang="en-US" sz="3400" dirty="0"/>
          </a:p>
        </p:txBody>
      </p:sp>
      <p:pic>
        <p:nvPicPr>
          <p:cNvPr id="4" name="Image 0" descr="C:\Users\shamo\OneDrive - United Nations\UN-DCO\10 — Innovation Sanbox\The Grassroots\docs\screenshots\11-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54480"/>
            <a:ext cx="5257800" cy="32826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921240" y="173736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FDF0E4"/>
          </a:solidFill>
          <a:ln w="9525">
            <a:solidFill>
              <a:srgbClr val="EBC9A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921240" y="1737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B5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DEMO DATA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40080" y="1554480"/>
            <a:ext cx="5394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8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— where they sit
</a:t>
            </a:r>
            <a:r>
              <a:rPr lang="en-US" sz="12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hq: the central Section, may report on any country.
co: a Country Office, scoped to its own country. Region and country apply only to this section.
</a:t>
            </a:r>
            <a:r>
              <a:rPr lang="en-US" sz="1250" b="1" dirty="0">
                <a:solidFill>
                  <a:srgbClr val="18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— what they may do
</a:t>
            </a:r>
            <a:r>
              <a:rPr lang="en-US" sz="12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full control, including users and the framework.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log activities within scope.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viewer: read-only.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4983480"/>
            <a:ext cx="10927080" cy="1371600"/>
          </a:xfrm>
          <a:prstGeom prst="roundRect">
            <a:avLst>
              <a:gd name="adj" fmla="val 5333"/>
            </a:avLst>
          </a:prstGeom>
          <a:solidFill>
            <a:srgbClr val="FBF3F0"/>
          </a:solidFill>
          <a:ln w="6350">
            <a:solidFill>
              <a:srgbClr val="FBF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512064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note.  </a:t>
            </a:r>
            <a:r>
              <a:rPr lang="en-US" sz="1200" dirty="0">
                <a:solidFill>
                  <a:srgbClr val="18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is a data value constrained by schema.sql — CHECK section IN ('hq','co') — and it also drives a body class, sec-hq / sec-co, that CSS keys off. Changing the vocabulary means changing the schema, the seed, the permission checks and the class together.
</a:t>
            </a:r>
            <a:r>
              <a:rPr lang="en-US" sz="1200" b="1" dirty="0">
                <a:solidFill>
                  <a:srgbClr val="B2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is demo-grade: the password is stored in plain text in the seed and equals the username. It gates the UI. It is not a security control and must never be treated as one.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LIFECYCLE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8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Seeding, reseeding and getting out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F3F8F3"/>
          </a:solidFill>
          <a:ln w="6350">
            <a:solidFill>
              <a:srgbClr val="F3F8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256032" cy="256032"/>
          </a:xfrm>
          <a:prstGeom prst="ellipse">
            <a:avLst/>
          </a:prstGeom>
          <a:solidFill>
            <a:srgbClr val="3D8A54"/>
          </a:solidFill>
          <a:ln w="12700">
            <a:solidFill>
              <a:srgbClr val="3D8A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871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 on first load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seeds IndexedDB from window.SEED the first time it runs. The store is grassroots_v1.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F3F8F3"/>
          </a:solidFill>
          <a:ln w="6350">
            <a:solidFill>
              <a:srgbClr val="F3F8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2103120"/>
            <a:ext cx="256032" cy="256032"/>
          </a:xfrm>
          <a:prstGeom prst="ellipse">
            <a:avLst/>
          </a:prstGeom>
          <a:solidFill>
            <a:srgbClr val="3D8A54"/>
          </a:solidFill>
          <a:ln w="12700">
            <a:solidFill>
              <a:srgbClr val="3D8A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4871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content stamp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288036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seed carries a short SHA-1 of its payload in window.SEED_STAMP. db.js compares it with the one it last persisted; if they differ, it drops the database and reseeds. A regenerated seed therefore reaches every browser on next load — no manual reset, no DB_NAME change.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F3F8F3"/>
          </a:solidFill>
          <a:ln w="6350">
            <a:solidFill>
              <a:srgbClr val="F3F8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2103120"/>
            <a:ext cx="256032" cy="256032"/>
          </a:xfrm>
          <a:prstGeom prst="ellipse">
            <a:avLst/>
          </a:prstGeom>
          <a:solidFill>
            <a:srgbClr val="3D8A54"/>
          </a:solidFill>
          <a:ln w="12700">
            <a:solidFill>
              <a:srgbClr val="3D8A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24871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out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21040" y="288036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DB.exportSQL() emits INSERTs matching schema.sql. Load them into sqlite3 and you leave with a database.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10927080" cy="1463040"/>
          </a:xfrm>
          <a:prstGeom prst="roundRect">
            <a:avLst>
              <a:gd name="adj" fmla="val 5000"/>
            </a:avLst>
          </a:prstGeom>
          <a:solidFill>
            <a:srgbClr val="F1F4F0"/>
          </a:solidFill>
          <a:ln w="6350">
            <a:solidFill>
              <a:srgbClr val="F1F4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010912"/>
            <a:ext cx="104698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821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DB.reset()      // wipe and re-seed from window.SEED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821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DB.exportSQL()  // → INSERT statements matching schema.sql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821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tools/gen_seed.py     # rebuild js/seed.js (deterministic)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821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tools/proc_world.py   # rebuild data/world.js from GeoJSON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SEED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8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invented data is made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gen_seed.py is deterministic: a seeded mulberry32 PRNG means the same input always produces the same seed, byte for byte. It reads tools/cities.json — a real-settlement gazetteer from the GeoNames cities1000 dump — so demo activities land on genuine coordinates.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60320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seed contains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2021–2025 (closed) and 2026–2030 (in flight)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 programmes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 of 237 selectable countries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2,968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Impacts, outcomes and outputs across both plans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Including project-local secondary KPIs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activities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Beneficiaries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12,259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Across 11 measures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Donor-funded, country-scoped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Section + 56 country offices — all fictional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2560320"/>
            <a:ext cx="3794760" cy="2798064"/>
          </a:xfrm>
          <a:prstGeom prst="roundRect">
            <a:avLst>
              <a:gd name="adj" fmla="val 2614"/>
            </a:avLst>
          </a:prstGeom>
          <a:solidFill>
            <a:srgbClr val="FBF3F0"/>
          </a:solidFill>
          <a:ln w="6350">
            <a:solidFill>
              <a:srgbClr val="FBF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01000" y="2743200"/>
            <a:ext cx="3337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B57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  A trap worth knowing
</a:t>
            </a:r>
            <a:r>
              <a:rPr lang="en-US" sz="1200" dirty="0">
                <a:solidFill>
                  <a:srgbClr val="18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THEME_BENEFICIARIES is keyed on the PROJECT_THEMES strings. Rename a theme without remapping it and every project silently falls back to the default three beneficiary types.
</a:t>
            </a:r>
            <a:r>
              <a:rPr lang="en-US" sz="1200" b="1" dirty="0">
                <a:solidFill>
                  <a:srgbClr val="B2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generator will not error. The data just quietly gets thinner.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55778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5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above is synthetic. The only real-world data is the place names and coordinates.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8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reach out. Nothing sends data.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27080" cy="9144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9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MapLibre GL JS 4.7.1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unpkg.com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Renders the vector basemap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Basemap style + tiles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CARTO (OpenStreetMap data)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map under the bubbles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Settlement 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photon.komoot.io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place lookup when logging an activity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566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application backend and no telemetry. The database never leaves the browser.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4069080"/>
            <a:ext cx="10927080" cy="2103120"/>
          </a:xfrm>
          <a:prstGeom prst="roundRect">
            <a:avLst>
              <a:gd name="adj" fmla="val 3478"/>
            </a:avLst>
          </a:prstGeom>
          <a:solidFill>
            <a:srgbClr val="FBF3F0"/>
          </a:solidFill>
          <a:ln w="6350">
            <a:solidFill>
              <a:srgbClr val="FBF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420624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B2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  Licence obligation — do not remove the map credit
</a:t>
            </a:r>
            <a:r>
              <a:rPr lang="en-US" sz="1250" dirty="0">
                <a:solidFill>
                  <a:srgbClr val="18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The basemap is OpenStreetMap-derived and ODbL requires the credit to stay visible. It is inherited from the CARTO style and shown, collapsed, bottom-right of the map. It has already been removed twice in this codebase's history — once in CSS, once in the map options.
</a:t>
            </a:r>
            <a:r>
              <a:rPr lang="en-US" sz="1250" b="1" dirty="0">
                <a:solidFill>
                  <a:srgbClr val="B2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add a customAttribution. </a:t>
            </a:r>
            <a:r>
              <a:rPr lang="en-US" sz="1250" dirty="0">
                <a:solidFill>
                  <a:srgbClr val="18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MapLibre builds its credit list from customAttribution plus every used source's, and dedupes only by exact string match — so a custom credit differing by one character renders the credit twice. Inherit the source's; do not supply your own.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8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seam is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intend to make this multi-user, js/db.js is the clean cut. It already presents a table-oriented API over IndexedDB; reimplement that module against a real API and the UI does not need to know.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3F8F3"/>
          </a:solidFill>
          <a:ln w="6350">
            <a:solidFill>
              <a:srgbClr val="F3F8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788920"/>
            <a:ext cx="256032" cy="256032"/>
          </a:xfrm>
          <a:prstGeom prst="ellipse">
            <a:avLst/>
          </a:prstGeom>
          <a:solidFill>
            <a:srgbClr val="3D8A54"/>
          </a:solidFill>
          <a:ln w="12700">
            <a:solidFill>
              <a:srgbClr val="3D8A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154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8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schema already exists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354787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schema.sql is real, tested SQLite DDL. The server-side model is not a design exercise — it is written.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25146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3F8F3"/>
          </a:solidFill>
          <a:ln w="6350">
            <a:solidFill>
              <a:srgbClr val="F3F8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2788920"/>
            <a:ext cx="256032" cy="256032"/>
          </a:xfrm>
          <a:prstGeom prst="ellipse">
            <a:avLst/>
          </a:prstGeom>
          <a:solidFill>
            <a:srgbClr val="3D8A54"/>
          </a:solidFill>
          <a:ln w="12700">
            <a:solidFill>
              <a:srgbClr val="3D8A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3154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8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engine is portable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617720" y="354787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status engine is pure computation over indicator + measurement rows. It can move to the server or stay on the client, unchanged.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25146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BF3F0"/>
          </a:solidFill>
          <a:ln w="6350">
            <a:solidFill>
              <a:srgbClr val="FB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2788920"/>
            <a:ext cx="256032" cy="256032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3154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8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 must be built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321040" y="354787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extended — built. What is there now is a UI gate against a plaintext password, and nothing more.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7548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 rules worth keeping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0080" y="512064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8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el(tag, cls, text) sets textContent — markup handed to it renders as a literal "&lt;b&gt;" on screen. Use elHTML() for the few notes that need emphasis, and esc() anything interpolated.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8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Bump the ?v= token in index.html whenever you change a JS or CSS file.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8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#basemap must have no z-index. Giving it one opens a stacking context that traps the map credit's links under the SVG overlay — visible, but unclickable.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8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things that will happen to you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274320" cy="274320"/>
          </a:xfrm>
          <a:prstGeom prst="ellipse">
            <a:avLst/>
          </a:prstGeom>
          <a:solidFill>
            <a:srgbClr val="3D8A54"/>
          </a:solidFill>
          <a:ln w="12700">
            <a:solidFill>
              <a:srgbClr val="3D8A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874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changes do not show up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212080" y="1856232"/>
            <a:ext cx="6355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is running a cached copy. Bump the ?v= token on the changed file in index.html.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2862072"/>
            <a:ext cx="274320" cy="274320"/>
          </a:xfrm>
          <a:prstGeom prst="ellipse">
            <a:avLst/>
          </a:prstGeom>
          <a:solidFill>
            <a:srgbClr val="3D8A54"/>
          </a:solidFill>
          <a:ln w="12700">
            <a:solidFill>
              <a:srgbClr val="3D8A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7706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looks stale after regenerating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212080" y="2752344"/>
            <a:ext cx="6355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window.SEED_STAMP actually changed — the auto-reseed keys on it. A byte-identical payload will not move 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758184"/>
            <a:ext cx="274320" cy="274320"/>
          </a:xfrm>
          <a:prstGeom prst="ellipse">
            <a:avLst/>
          </a:prstGeom>
          <a:solidFill>
            <a:srgbClr val="3D8A54"/>
          </a:solidFill>
          <a:ln w="12700">
            <a:solidFill>
              <a:srgbClr val="3D8A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366674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map credit appears twice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12080" y="3648456"/>
            <a:ext cx="6355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added a customAttribution back. Inherit the CARTO source's credit instead.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4654296"/>
            <a:ext cx="274320" cy="274320"/>
          </a:xfrm>
          <a:prstGeom prst="ellipse">
            <a:avLst/>
          </a:prstGeom>
          <a:solidFill>
            <a:srgbClr val="3D8A54"/>
          </a:solidFill>
          <a:ln w="12700">
            <a:solidFill>
              <a:srgbClr val="3D8A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456285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credit does not appear at all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12080" y="4544568"/>
            <a:ext cx="6355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MapLibre only paints it once the source is marked used, which needs the style to finish painting. If the basemap has not rendered, neither will the credit.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5550408"/>
            <a:ext cx="274320" cy="274320"/>
          </a:xfrm>
          <a:prstGeom prst="ellipse">
            <a:avLst/>
          </a:prstGeom>
          <a:solidFill>
            <a:srgbClr val="3D8A54"/>
          </a:solidFill>
          <a:ln w="12700">
            <a:solidFill>
              <a:srgbClr val="3D8A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54589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country office user sees nothing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12080" y="5440680"/>
            <a:ext cx="6355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— co users are scoped to their own country. Check user.country_iso3 is set.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4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 VERSION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platform, on invented data.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6E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architecture, the schema, the status engine and every function are production-shaped. The portfolio inside them was generated to prove they work. Read the two apart, and it is easy to judge what is here and what would still need building.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2A5F3B"/>
          </a:solidFill>
          <a:ln w="6350">
            <a:solidFill>
              <a:srgbClr val="2A5F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4747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6E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-m http.server 8777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32918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2A5F3B"/>
          </a:solidFill>
          <a:ln w="6350">
            <a:solidFill>
              <a:srgbClr val="2A5F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34747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it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17720" y="3840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6E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schema.sql first, then js/db.js, then the status engine in js/app.js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32918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2A5F3B"/>
          </a:solidFill>
          <a:ln w="6350">
            <a:solidFill>
              <a:srgbClr val="2A5F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34747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321040" y="3840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6E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thegrassroots.github.io/platform — demo / demo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52578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github.com/thegrassroots/platform   ·   grassrootstrack@outlook.com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806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The full written manual, with the workflows step by step, ships alongside this deck.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b77875e-5908-45a0-9cb4-dec9ae074618}" enabled="1" method="Privileged" siteId="{0f9e35db-544f-4f60-bdcc-5ea416e6dc7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2328</Words>
  <Application>Microsoft Office PowerPoint</Application>
  <PresentationFormat>Widescreen</PresentationFormat>
  <Paragraphs>228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Grassroots — Technical Overview</dc:title>
  <dc:subject>PptxGenJS Presentation</dc:subject>
  <dc:creator>The Grassroots</dc:creator>
  <cp:lastModifiedBy>Aladdin Shamoug</cp:lastModifiedBy>
  <cp:revision>1</cp:revision>
  <dcterms:created xsi:type="dcterms:W3CDTF">2026-07-16T20:32:09Z</dcterms:created>
  <dcterms:modified xsi:type="dcterms:W3CDTF">2026-07-16T20:36:42Z</dcterms:modified>
</cp:coreProperties>
</file>