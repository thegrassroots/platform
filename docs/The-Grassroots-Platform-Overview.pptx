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8" d="100"/>
          <a:sy n="78" d="100"/>
        </p:scale>
        <p:origin x="778" y="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413163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promise, not the product. Then say the sample-data line out loud before anything else.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their pain in their words. No product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whole idea of the platform in one slide. Pause on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1B6FC2">
              <a:alpha val="18000"/>
            </a:srgbClr>
          </a:solidFill>
          <a:ln w="12700">
            <a:solidFill>
              <a:srgbClr val="1B6FC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424160" y="3108960"/>
            <a:ext cx="3840480" cy="3840480"/>
          </a:xfrm>
          <a:prstGeom prst="ellipse">
            <a:avLst/>
          </a:prstGeom>
          <a:solidFill>
            <a:srgbClr val="1B6FC2">
              <a:alpha val="12000"/>
            </a:srgbClr>
          </a:solidFill>
          <a:ln w="12700">
            <a:solidFill>
              <a:srgbClr val="1B6FC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645920" y="4389120"/>
            <a:ext cx="4572000" cy="4572000"/>
          </a:xfrm>
          <a:prstGeom prst="ellipse">
            <a:avLst/>
          </a:prstGeom>
          <a:solidFill>
            <a:srgbClr val="3E8BD9">
              <a:alpha val="10000"/>
            </a:srgbClr>
          </a:solidFill>
          <a:ln w="12700">
            <a:solidFill>
              <a:srgbClr val="3E8B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777240"/>
            <a:ext cx="685800" cy="685800"/>
          </a:xfrm>
          <a:prstGeom prst="ellipse">
            <a:avLst/>
          </a:prstGeom>
          <a:solidFill>
            <a:srgbClr val="1B6FC2"/>
          </a:solidFill>
          <a:ln w="12700">
            <a:solidFill>
              <a:srgbClr val="1B6FC2"/>
            </a:solidFill>
            <a:prstDash val="solid"/>
          </a:ln>
        </p:spPr>
      </p:sp>
      <p:pic>
        <p:nvPicPr>
          <p:cNvPr id="6" name="Image 0" descr="C:\Users\shamo\AppData\Local\Temp\claude\C--Users-shamo-OneDrive---United-Nations-UN-DCO-10---Innovation-Sanbox-The-Grassroots\0eee3bdb-6389-4071-99a7-070b782b3283\scratchpad\iconpng\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108" y="95554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77724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400" dirty="0">
                <a:solidFill>
                  <a:srgbClr val="9CC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GRASSROOTS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1737360"/>
            <a:ext cx="10789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what changes</a:t>
            </a:r>
            <a:endParaRPr lang="en-US" sz="6000" dirty="0"/>
          </a:p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the ground.</a:t>
            </a:r>
            <a:endParaRPr lang="en-US" sz="6000" dirty="0"/>
          </a:p>
        </p:txBody>
      </p:sp>
      <p:sp>
        <p:nvSpPr>
          <p:cNvPr id="9" name="Text 6"/>
          <p:cNvSpPr/>
          <p:nvPr/>
        </p:nvSpPr>
        <p:spPr>
          <a:xfrm>
            <a:off x="685800" y="4069080"/>
            <a:ext cx="7589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C9D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programme, every project, every community you serve — on one live map, with a clear answer to the only question that matters: is it working?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685800" y="5212080"/>
            <a:ext cx="7589520" cy="960120"/>
          </a:xfrm>
          <a:prstGeom prst="roundRect">
            <a:avLst>
              <a:gd name="adj" fmla="val 9524"/>
            </a:avLst>
          </a:prstGeom>
          <a:solidFill>
            <a:srgbClr val="16395F"/>
          </a:solidFill>
          <a:ln w="12700">
            <a:solidFill>
              <a:srgbClr val="16395F"/>
            </a:solidFill>
            <a:prstDash val="solid"/>
          </a:ln>
        </p:spPr>
      </p:sp>
      <p:pic>
        <p:nvPicPr>
          <p:cNvPr id="11" name="Image 1" descr="C:\Users\shamo\AppData\Local\Temp\claude\C--Users-shamo-OneDrive---United-Nations-UN-DCO-10---Innovation-Sanbox-The-Grassroots\0eee3bdb-6389-4071-99a7-070b782b3283\scratchpad\iconpng\lightbul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468112"/>
            <a:ext cx="438912" cy="43891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508760" y="5303520"/>
            <a:ext cx="658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demonstration — with sample data.  </a:t>
            </a:r>
            <a:r>
              <a:rPr lang="en-US" sz="1250" dirty="0">
                <a:solidFill>
                  <a:srgbClr val="C9D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inside is invented, created only to show how the platform works. Nothing reports on real programmes.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8595360" y="55778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B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thegrassroots.github.io/platform</a:t>
            </a:r>
            <a:endParaRPr lang="en-US" sz="1300" dirty="0"/>
          </a:p>
        </p:txBody>
      </p:sp>
    </p:spTree>
  </p:cSld>
  <p:clrMapOvr>
    <a:masterClrMapping/>
  </p:clrMapOvr>
  <p:transition spd="slow">
    <p:push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2004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B6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REALITY WE ALL KNOW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56692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5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work happens in villages.</a:t>
            </a:r>
            <a:endParaRPr lang="en-US" sz="3300" dirty="0"/>
          </a:p>
          <a:p>
            <a:pPr marL="0" indent="0">
              <a:buNone/>
            </a:pPr>
            <a:r>
              <a:rPr lang="en-US" sz="3300" b="1" dirty="0">
                <a:solidFill>
                  <a:srgbClr val="15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picture arrives a year later.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214884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a community and a headquarters sit spreadsheets, email chains and reporting templates. By the time the annual report is assembled, the moment to act has passed.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85800" y="3063240"/>
            <a:ext cx="3154680" cy="3063240"/>
          </a:xfrm>
          <a:prstGeom prst="roundRect">
            <a:avLst>
              <a:gd name="adj" fmla="val 2985"/>
            </a:avLst>
          </a:prstGeom>
          <a:solidFill>
            <a:srgbClr val="EAF3FC"/>
          </a:solidFill>
          <a:ln w="9525">
            <a:solidFill>
              <a:srgbClr val="CFE3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8408" y="3364992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0" descr="C:\Users\shamo\AppData\Local\Temp\claude\C--Users-shamo-OneDrive---United-Nations-UN-DCO-10---Innovation-Sanbox-The-Grassroots\0eee3bdb-6389-4071-99a7-070b782b3283\scratchpad\iconpng\binocul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9584" y="3536168"/>
            <a:ext cx="316017" cy="31601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78408" y="42062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50" b="1" dirty="0">
                <a:solidFill>
                  <a:srgbClr val="15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Leaders fly blind between reports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978408" y="493776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about money and people get made months before the evidence arrives to support them.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526280" y="3063240"/>
            <a:ext cx="3154680" cy="3063240"/>
          </a:xfrm>
          <a:prstGeom prst="roundRect">
            <a:avLst>
              <a:gd name="adj" fmla="val 2985"/>
            </a:avLst>
          </a:prstGeom>
          <a:solidFill>
            <a:srgbClr val="EAF3FC"/>
          </a:solidFill>
          <a:ln w="9525">
            <a:solidFill>
              <a:srgbClr val="CFE3F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818888" y="3364992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Image 1" descr="C:\Users\shamo\AppData\Local\Temp\claude\C--Users-shamo-OneDrive---United-Nations-UN-DCO-10---Innovation-Sanbox-The-Grassroots\0eee3bdb-6389-4071-99a7-070b782b3283\scratchpad\iconpng\syn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0064" y="3536168"/>
            <a:ext cx="316017" cy="316017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818888" y="42062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50" b="1" dirty="0">
                <a:solidFill>
                  <a:srgbClr val="15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Teams drown in reporting</a:t>
            </a:r>
            <a:endParaRPr lang="en-US" sz="1650" dirty="0"/>
          </a:p>
        </p:txBody>
      </p:sp>
      <p:sp>
        <p:nvSpPr>
          <p:cNvPr id="14" name="Text 10"/>
          <p:cNvSpPr/>
          <p:nvPr/>
        </p:nvSpPr>
        <p:spPr>
          <a:xfrm>
            <a:off x="4818888" y="493776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staff spend their evenings compiling spreadsheets instead of serving communities. Every funder wants a different format.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366760" y="3063240"/>
            <a:ext cx="3154680" cy="3063240"/>
          </a:xfrm>
          <a:prstGeom prst="roundRect">
            <a:avLst>
              <a:gd name="adj" fmla="val 2985"/>
            </a:avLst>
          </a:prstGeom>
          <a:solidFill>
            <a:srgbClr val="EAF3FC"/>
          </a:solidFill>
          <a:ln w="9525">
            <a:solidFill>
              <a:srgbClr val="CFE3F7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659368" y="3364992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7" name="Image 2" descr="C:\Users\shamo\AppData\Local\Temp\claude\C--Users-shamo-OneDrive---United-Nations-UN-DCO-10---Innovation-Sanbox-The-Grassroots\0eee3bdb-6389-4071-99a7-070b782b3283\scratchpad\iconpng\ey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30544" y="3536168"/>
            <a:ext cx="316017" cy="316017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9368" y="42062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50" b="1" dirty="0">
                <a:solidFill>
                  <a:srgbClr val="15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Good news travels; bad news hides</a:t>
            </a:r>
            <a:endParaRPr lang="en-US" sz="1650" dirty="0"/>
          </a:p>
        </p:txBody>
      </p:sp>
      <p:sp>
        <p:nvSpPr>
          <p:cNvPr id="19" name="Text 14"/>
          <p:cNvSpPr/>
          <p:nvPr/>
        </p:nvSpPr>
        <p:spPr>
          <a:xfrm>
            <a:off x="8659368" y="493776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progress is typed into a report by hand, trouble stays invisible until it is too late to fix cheaply.</a:t>
            </a:r>
            <a:endParaRPr lang="en-US" sz="1250" dirty="0"/>
          </a:p>
        </p:txBody>
      </p:sp>
    </p:spTree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2A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-1645920"/>
            <a:ext cx="5029200" cy="5029200"/>
          </a:xfrm>
          <a:prstGeom prst="ellipse">
            <a:avLst/>
          </a:prstGeom>
          <a:solidFill>
            <a:srgbClr val="1B6FC2">
              <a:alpha val="15000"/>
            </a:srgbClr>
          </a:solidFill>
          <a:ln w="12700">
            <a:solidFill>
              <a:srgbClr val="1B6FC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4206240"/>
            <a:ext cx="5029200" cy="5029200"/>
          </a:xfrm>
          <a:prstGeom prst="ellipse">
            <a:avLst/>
          </a:prstGeom>
          <a:solidFill>
            <a:srgbClr val="1B6FC2">
              <a:alpha val="14000"/>
            </a:srgbClr>
          </a:solidFill>
          <a:ln w="12700">
            <a:solidFill>
              <a:srgbClr val="1B6FC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32004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F5B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IMAGINE INSTEAD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051560"/>
            <a:ext cx="10789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living picture of everything —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 single village to the national plan.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85800" y="288036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9D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field worker records one activity: what happened, where, who benefited. That is the last time anyone touches it. From there, the platform itself moves the numbers — through the project, the programme and the plan.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85800" y="3977640"/>
            <a:ext cx="2578608" cy="960120"/>
          </a:xfrm>
          <a:prstGeom prst="roundRect">
            <a:avLst>
              <a:gd name="adj" fmla="val 9524"/>
            </a:avLst>
          </a:prstGeom>
          <a:solidFill>
            <a:srgbClr val="16395F"/>
          </a:solidFill>
          <a:ln w="12700">
            <a:solidFill>
              <a:srgbClr val="1639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3977640"/>
            <a:ext cx="25786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village activity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273552" y="3977640"/>
            <a:ext cx="2651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5B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538728" y="3977640"/>
            <a:ext cx="2578608" cy="960120"/>
          </a:xfrm>
          <a:prstGeom prst="roundRect">
            <a:avLst>
              <a:gd name="adj" fmla="val 9524"/>
            </a:avLst>
          </a:prstGeom>
          <a:solidFill>
            <a:srgbClr val="16395F"/>
          </a:solidFill>
          <a:ln w="12700">
            <a:solidFill>
              <a:srgbClr val="1639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38728" y="3977640"/>
            <a:ext cx="25786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project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126480" y="3977640"/>
            <a:ext cx="2651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5B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391656" y="3977640"/>
            <a:ext cx="2578608" cy="960120"/>
          </a:xfrm>
          <a:prstGeom prst="roundRect">
            <a:avLst>
              <a:gd name="adj" fmla="val 9524"/>
            </a:avLst>
          </a:prstGeom>
          <a:solidFill>
            <a:srgbClr val="16395F"/>
          </a:solidFill>
          <a:ln w="12700">
            <a:solidFill>
              <a:srgbClr val="1639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91656" y="3977640"/>
            <a:ext cx="25786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country programme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979408" y="3977640"/>
            <a:ext cx="2651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5B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9244584" y="3977640"/>
            <a:ext cx="2578608" cy="960120"/>
          </a:xfrm>
          <a:prstGeom prst="roundRect">
            <a:avLst>
              <a:gd name="adj" fmla="val 9524"/>
            </a:avLst>
          </a:prstGeom>
          <a:solidFill>
            <a:srgbClr val="1B6FC2"/>
          </a:solidFill>
          <a:ln w="12700">
            <a:solidFill>
              <a:srgbClr val="1B6FC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44584" y="3977640"/>
            <a:ext cx="25786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national plan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85800" y="534924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i="1" dirty="0">
                <a:solidFill>
                  <a:srgbClr val="F5B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Reported once.  Counted everywhere.  Instantly.</a:t>
            </a:r>
            <a:endParaRPr lang="en-US" sz="2200" dirty="0"/>
          </a:p>
        </p:txBody>
      </p:sp>
    </p:spTree>
  </p:cSld>
  <p:clrMapOvr>
    <a:masterClrMapping/>
  </p:clrMapOvr>
  <p:transition spd="slow">
    <p:push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2004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B6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PORTFOLIO, LIVE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56692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5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operation on one screen</a:t>
            </a:r>
            <a:endParaRPr lang="en-US" sz="3600" dirty="0"/>
          </a:p>
        </p:txBody>
      </p:sp>
      <p:pic>
        <p:nvPicPr>
          <p:cNvPr id="4" name="Image 0" descr="C:\Users\shamo\OneDrive - United Nations\UN-DCO\10 — Innovation Sanbox\The Grassroots\docs\screenshots\02-map-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0200"/>
            <a:ext cx="7452360" cy="46542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035040" y="178308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FFF4DC"/>
          </a:solidFill>
          <a:ln w="9525">
            <a:solidFill>
              <a:srgbClr val="E8CD9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035040" y="178308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A87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DATA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8366760" y="1783080"/>
            <a:ext cx="566928" cy="566928"/>
          </a:xfrm>
          <a:prstGeom prst="ellipse">
            <a:avLst/>
          </a:prstGeom>
          <a:solidFill>
            <a:srgbClr val="EAF3FC"/>
          </a:solidFill>
          <a:ln w="12700">
            <a:solidFill>
              <a:srgbClr val="EAF3FC"/>
            </a:solidFill>
            <a:prstDash val="solid"/>
          </a:ln>
        </p:spPr>
      </p:sp>
      <p:pic>
        <p:nvPicPr>
          <p:cNvPr id="8" name="Image 1" descr="C:\Users\shamo\AppData\Local\Temp\claude\C--Users-shamo-OneDrive---United-Nations-UN-DCO-10---Innovation-Sanbox-The-Grassroots\0eee3bdb-6389-4071-99a7-070b782b3283\scratchpad\iconpng\globe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4161" y="1930481"/>
            <a:ext cx="272125" cy="27212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098280" y="1709928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5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country, every project, every activity — placed where it really happened.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8366760" y="3264408"/>
            <a:ext cx="566928" cy="566928"/>
          </a:xfrm>
          <a:prstGeom prst="ellipse">
            <a:avLst/>
          </a:prstGeom>
          <a:solidFill>
            <a:srgbClr val="EAF3FC"/>
          </a:solidFill>
          <a:ln w="12700">
            <a:solidFill>
              <a:srgbClr val="EAF3FC"/>
            </a:solidFill>
            <a:prstDash val="solid"/>
          </a:ln>
        </p:spPr>
      </p:sp>
      <p:pic>
        <p:nvPicPr>
          <p:cNvPr id="11" name="Image 2" descr="C:\Users\shamo\AppData\Local\Temp\claude\C--Users-shamo-OneDrive---United-Nations-UN-DCO-10---Innovation-Sanbox-The-Grassroots\0eee3bdb-6389-4071-99a7-070b782b3283\scratchpad\iconpng\cha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4161" y="3411809"/>
            <a:ext cx="272125" cy="272125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098280" y="3191256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5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Colours tell you health at a glance: green on track, amber at risk, red off track.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8366760" y="4745736"/>
            <a:ext cx="566928" cy="566928"/>
          </a:xfrm>
          <a:prstGeom prst="ellipse">
            <a:avLst/>
          </a:prstGeom>
          <a:solidFill>
            <a:srgbClr val="EAF3FC"/>
          </a:solidFill>
          <a:ln w="12700">
            <a:solidFill>
              <a:srgbClr val="EAF3FC"/>
            </a:solidFill>
            <a:prstDash val="solid"/>
          </a:ln>
        </p:spPr>
      </p:sp>
      <p:pic>
        <p:nvPicPr>
          <p:cNvPr id="14" name="Image 3" descr="C:\Users\shamo\AppData\Local\Temp\claude\C--Users-shamo-OneDrive---United-Nations-UN-DCO-10---Innovation-Sanbox-The-Grassroots\0eee3bdb-6389-4071-99a7-070b782b3283\scratchpad\iconpng\binocula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14161" y="4893137"/>
            <a:ext cx="272125" cy="272125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9098280" y="4672584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5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anything — one region, one funder, one theme — and the whole screen answers.</a:t>
            </a:r>
            <a:endParaRPr lang="en-US" sz="1300" dirty="0"/>
          </a:p>
        </p:txBody>
      </p:sp>
      <p:sp>
        <p:nvSpPr>
          <p:cNvPr id="16" name="Text 10"/>
          <p:cNvSpPr/>
          <p:nvPr/>
        </p:nvSpPr>
        <p:spPr>
          <a:xfrm>
            <a:off x="685800" y="635508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data — the geography is real, the projects are invented.</a:t>
            </a:r>
            <a:endParaRPr lang="en-US" sz="1050" dirty="0"/>
          </a:p>
        </p:txBody>
      </p:sp>
    </p:spTree>
  </p:cSld>
  <p:clrMapOvr>
    <a:masterClrMapping/>
  </p:clrMapOvr>
  <p:transition spd="slow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2004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B6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 THAT CHANGES MEETINGS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56692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5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Traffic lights nobody can argue with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most reports, someone chooses the colour. Here, no one does. The platform compares what was promised with what was delivered — and with how much time has passed — and awards the colour itself.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85800" y="2606040"/>
            <a:ext cx="2468880" cy="1920240"/>
          </a:xfrm>
          <a:prstGeom prst="roundRect">
            <a:avLst>
              <a:gd name="adj" fmla="val 4762"/>
            </a:avLst>
          </a:prstGeom>
          <a:solidFill>
            <a:srgbClr val="EAF3FC"/>
          </a:solidFill>
          <a:ln w="9525">
            <a:solidFill>
              <a:srgbClr val="CFE3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8408" y="2880360"/>
            <a:ext cx="502920" cy="50292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8408" y="35204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5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Ahead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78408" y="3913632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the target already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538728" y="2606040"/>
            <a:ext cx="2468880" cy="1920240"/>
          </a:xfrm>
          <a:prstGeom prst="roundRect">
            <a:avLst>
              <a:gd name="adj" fmla="val 4762"/>
            </a:avLst>
          </a:prstGeom>
          <a:solidFill>
            <a:srgbClr val="EAF3FC"/>
          </a:solidFill>
          <a:ln w="9525">
            <a:solidFill>
              <a:srgbClr val="CFE3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831336" y="2880360"/>
            <a:ext cx="502920" cy="50292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31336" y="35204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5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track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3831336" y="3913632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to deliver on time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391656" y="2606040"/>
            <a:ext cx="2468880" cy="1920240"/>
          </a:xfrm>
          <a:prstGeom prst="roundRect">
            <a:avLst>
              <a:gd name="adj" fmla="val 4762"/>
            </a:avLst>
          </a:prstGeom>
          <a:solidFill>
            <a:srgbClr val="EAF3FC"/>
          </a:solidFill>
          <a:ln w="9525">
            <a:solidFill>
              <a:srgbClr val="CFE3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84264" y="2880360"/>
            <a:ext cx="502920" cy="5029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84264" y="35204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5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 risk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6684264" y="3913632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Slipping — act now, cheaply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244584" y="2606040"/>
            <a:ext cx="2468880" cy="1920240"/>
          </a:xfrm>
          <a:prstGeom prst="roundRect">
            <a:avLst>
              <a:gd name="adj" fmla="val 4762"/>
            </a:avLst>
          </a:prstGeom>
          <a:solidFill>
            <a:srgbClr val="EAF3FC"/>
          </a:solidFill>
          <a:ln w="9525">
            <a:solidFill>
              <a:srgbClr val="CFE3F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537192" y="2880360"/>
            <a:ext cx="502920" cy="50292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537192" y="35204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5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 track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9537192" y="3913632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intervention today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5800" y="4892040"/>
            <a:ext cx="10817352" cy="1234440"/>
          </a:xfrm>
          <a:prstGeom prst="roundRect">
            <a:avLst>
              <a:gd name="adj" fmla="val 7407"/>
            </a:avLst>
          </a:prstGeom>
          <a:solidFill>
            <a:srgbClr val="0E2A47"/>
          </a:solidFill>
          <a:ln w="12700">
            <a:solidFill>
              <a:srgbClr val="0E2A47"/>
            </a:solidFill>
            <a:prstDash val="solid"/>
          </a:ln>
        </p:spPr>
      </p:sp>
      <p:pic>
        <p:nvPicPr>
          <p:cNvPr id="22" name="Image 0" descr="C:\Users\shamo\AppData\Local\Temp\claude\C--Users-shamo-OneDrive---United-Nations-UN-DCO-10---Innovation-Sanbox-The-Grassroots\0eee3bdb-6389-4071-99a7-070b782b3283\scratchpad\iconpng\bo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5257800"/>
            <a:ext cx="457200" cy="457200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1600200" y="5029200"/>
            <a:ext cx="9692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clock is part of the answer.  </a:t>
            </a:r>
            <a:r>
              <a:rPr lang="en-US" sz="1350" dirty="0">
                <a:solidFill>
                  <a:srgbClr val="C9D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Halfway through the year with a quarter of the target delivered is not "25% done" — it is a warning. The platform sees that on its own, months before a written report would say it.</a:t>
            </a:r>
            <a:endParaRPr lang="en-US" sz="1350" dirty="0"/>
          </a:p>
        </p:txBody>
      </p:sp>
    </p:spTree>
  </p:cSld>
  <p:clrMapOvr>
    <a:masterClrMapping/>
  </p:clrMapOvr>
  <p:transition spd="slow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2004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B6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56692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5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and money, on the same page</a:t>
            </a:r>
            <a:endParaRPr lang="en-US" sz="3600" dirty="0"/>
          </a:p>
        </p:txBody>
      </p:sp>
      <p:pic>
        <p:nvPicPr>
          <p:cNvPr id="4" name="Image 0" descr="C:\Users\shamo\OneDrive - United Nations\UN-DCO\10 — Innovation Sanbox\The Grassroots\docs\screenshots\07-project-primary-kp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1600200"/>
            <a:ext cx="6812280" cy="426110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9509760" y="178308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FFF4DC"/>
          </a:solidFill>
          <a:ln w="9525">
            <a:solidFill>
              <a:srgbClr val="E8CD9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509760" y="178308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A87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DATA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85800" y="1783080"/>
            <a:ext cx="37490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5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project shows its funder, its budget, its dates — and the results it signed up to deliver.
</a:t>
            </a:r>
            <a:r>
              <a:rPr lang="en-US" sz="13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funder asks "what did our contribution achieve?", the answer is already on screen: their projects, their communities, their outcomes — filtered in one click.
No scrambling before the donor meeting. No reconciling three spreadsheets that disagree.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685800" y="56235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B6F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Value for money stops being a slogan when you can see it.</a:t>
            </a:r>
            <a:endParaRPr lang="en-US" sz="1400" dirty="0"/>
          </a:p>
        </p:txBody>
      </p:sp>
    </p:spTree>
  </p:cSld>
  <p:clrMapOvr>
    <a:masterClrMapping/>
  </p:clrMapOvr>
  <p:transition spd="slow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2A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-1280160"/>
            <a:ext cx="4572000" cy="4572000"/>
          </a:xfrm>
          <a:prstGeom prst="ellipse">
            <a:avLst/>
          </a:prstGeom>
          <a:solidFill>
            <a:srgbClr val="1B6FC2">
              <a:alpha val="15000"/>
            </a:srgbClr>
          </a:solidFill>
          <a:ln w="12700">
            <a:solidFill>
              <a:srgbClr val="1B6FC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371600" y="4572000"/>
            <a:ext cx="4114800" cy="4114800"/>
          </a:xfrm>
          <a:prstGeom prst="ellipse">
            <a:avLst/>
          </a:prstGeom>
          <a:solidFill>
            <a:srgbClr val="3E8BD9">
              <a:alpha val="12000"/>
            </a:srgbClr>
          </a:solidFill>
          <a:ln w="12700">
            <a:solidFill>
              <a:srgbClr val="3E8B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32004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F5B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FOR THE PEOPLE DOING THE WORK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005840"/>
            <a:ext cx="10789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Reporting that takes minutes,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evenings.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685800" y="2880360"/>
            <a:ext cx="3383280" cy="2468880"/>
          </a:xfrm>
          <a:prstGeom prst="roundRect">
            <a:avLst>
              <a:gd name="adj" fmla="val 3704"/>
            </a:avLst>
          </a:prstGeom>
          <a:solidFill>
            <a:srgbClr val="16395F"/>
          </a:solidFill>
          <a:ln w="12700">
            <a:solidFill>
              <a:srgbClr val="16395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3154680"/>
            <a:ext cx="640080" cy="640080"/>
          </a:xfrm>
          <a:prstGeom prst="ellipse">
            <a:avLst/>
          </a:prstGeom>
          <a:solidFill>
            <a:srgbClr val="1B6FC2"/>
          </a:solidFill>
          <a:ln w="12700">
            <a:solidFill>
              <a:srgbClr val="1B6FC2"/>
            </a:solidFill>
            <a:prstDash val="solid"/>
          </a:ln>
        </p:spPr>
      </p:sp>
      <p:pic>
        <p:nvPicPr>
          <p:cNvPr id="8" name="Image 0" descr="C:\Users\shamo\AppData\Local\Temp\claude\C--Users-shamo-OneDrive---United-Nations-UN-DCO-10---Innovation-Sanbox-The-Grassroots\0eee3bdb-6389-4071-99a7-070b782b3283\scratchpad\iconpng\check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4829" y="332110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78408" y="393192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Say what happened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978408" y="4315968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9D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result it counts toward and enter the number.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398264" y="2880360"/>
            <a:ext cx="3383280" cy="2468880"/>
          </a:xfrm>
          <a:prstGeom prst="roundRect">
            <a:avLst>
              <a:gd name="adj" fmla="val 3704"/>
            </a:avLst>
          </a:prstGeom>
          <a:solidFill>
            <a:srgbClr val="16395F"/>
          </a:solidFill>
          <a:ln w="12700">
            <a:solidFill>
              <a:srgbClr val="16395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690872" y="3154680"/>
            <a:ext cx="640080" cy="640080"/>
          </a:xfrm>
          <a:prstGeom prst="ellipse">
            <a:avLst/>
          </a:prstGeom>
          <a:solidFill>
            <a:srgbClr val="1B6FC2"/>
          </a:solidFill>
          <a:ln w="12700">
            <a:solidFill>
              <a:srgbClr val="1B6FC2"/>
            </a:solidFill>
            <a:prstDash val="solid"/>
          </a:ln>
        </p:spPr>
      </p:sp>
      <p:pic>
        <p:nvPicPr>
          <p:cNvPr id="13" name="Image 1" descr="C:\Users\shamo\AppData\Local\Temp\claude\C--Users-shamo-OneDrive---United-Nations-UN-DCO-10---Innovation-Sanbox-The-Grassroots\0eee3bdb-6389-4071-99a7-070b782b3283\scratchpad\iconpng\pin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7293" y="332110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690872" y="393192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Say where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4690872" y="4315968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9D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typing a town or village — the platform finds the real place and pins it on the map.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110728" y="2880360"/>
            <a:ext cx="3383280" cy="2468880"/>
          </a:xfrm>
          <a:prstGeom prst="roundRect">
            <a:avLst>
              <a:gd name="adj" fmla="val 3704"/>
            </a:avLst>
          </a:prstGeom>
          <a:solidFill>
            <a:srgbClr val="16395F"/>
          </a:solidFill>
          <a:ln w="12700">
            <a:solidFill>
              <a:srgbClr val="16395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403336" y="3154680"/>
            <a:ext cx="640080" cy="640080"/>
          </a:xfrm>
          <a:prstGeom prst="ellipse">
            <a:avLst/>
          </a:prstGeom>
          <a:solidFill>
            <a:srgbClr val="1B6FC2"/>
          </a:solidFill>
          <a:ln w="12700">
            <a:solidFill>
              <a:srgbClr val="1B6FC2"/>
            </a:solidFill>
            <a:prstDash val="solid"/>
          </a:ln>
        </p:spPr>
      </p:sp>
      <p:pic>
        <p:nvPicPr>
          <p:cNvPr id="18" name="Image 2" descr="C:\Users\shamo\AppData\Local\Temp\claude\C--Users-shamo-OneDrive---United-Nations-UN-DCO-10---Innovation-Sanbox-The-Grassroots\0eee3bdb-6389-4071-99a7-070b782b3283\scratchpad\iconpng\users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69757" y="33211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403336" y="393192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Say who benefited</a:t>
            </a:r>
            <a:endParaRPr lang="en-US" sz="1700" dirty="0"/>
          </a:p>
        </p:txBody>
      </p:sp>
      <p:sp>
        <p:nvSpPr>
          <p:cNvPr id="20" name="Text 15"/>
          <p:cNvSpPr/>
          <p:nvPr/>
        </p:nvSpPr>
        <p:spPr>
          <a:xfrm>
            <a:off x="8403336" y="4315968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9D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Women, children, persons with disabilities, refugees — counted at the moment of reporting, not estimated later.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685800" y="56692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F5B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 is the entire job. Everything above it — every total, every chart, every traffic light — updates by itself.</a:t>
            </a:r>
            <a:endParaRPr lang="en-US" sz="1600" dirty="0"/>
          </a:p>
        </p:txBody>
      </p:sp>
    </p:spTree>
  </p:cSld>
  <p:clrMapOvr>
    <a:masterClrMapping/>
  </p:clrMapOvr>
  <p:transition spd="slow">
    <p:push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2004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B6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LEAVING NO ONE BEHIND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56692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5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just how many — who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activity records the people it reached, broken down the way your commitments are written: by gender, by age, by disability, by displacement. So "inclusive" becomes a number you can stand behind, not an adjective.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85800" y="2697480"/>
            <a:ext cx="2468880" cy="1737360"/>
          </a:xfrm>
          <a:prstGeom prst="roundRect">
            <a:avLst>
              <a:gd name="adj" fmla="val 5263"/>
            </a:avLst>
          </a:prstGeom>
          <a:solidFill>
            <a:srgbClr val="EAF3FC"/>
          </a:solidFill>
          <a:ln w="9525">
            <a:solidFill>
              <a:srgbClr val="CFE3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54480" y="292608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0" descr="C:\Users\shamo\AppData\Local\Temp\claude\C--Users-shamo-OneDrive---United-Nations-UN-DCO-10---Innovation-Sanbox-The-Grassroots\0eee3bdb-6389-4071-99a7-070b782b3283\scratchpad\iconpng\fema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4675" y="3116275"/>
            <a:ext cx="351130" cy="35113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7947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5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Women &amp; girls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3538728" y="2697480"/>
            <a:ext cx="2468880" cy="1737360"/>
          </a:xfrm>
          <a:prstGeom prst="roundRect">
            <a:avLst>
              <a:gd name="adj" fmla="val 5263"/>
            </a:avLst>
          </a:prstGeom>
          <a:solidFill>
            <a:srgbClr val="EAF3FC"/>
          </a:solidFill>
          <a:ln w="9525">
            <a:solidFill>
              <a:srgbClr val="CFE3F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407408" y="292608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1" name="Image 1" descr="C:\Users\shamo\AppData\Local\Temp\claude\C--Users-shamo-OneDrive---United-Nations-UN-DCO-10---Innovation-Sanbox-The-Grassroots\0eee3bdb-6389-4071-99a7-070b782b3283\scratchpad\iconpng\chi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7603" y="3116275"/>
            <a:ext cx="351130" cy="35113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675888" y="37947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5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Children &amp; youth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391656" y="2697480"/>
            <a:ext cx="2468880" cy="1737360"/>
          </a:xfrm>
          <a:prstGeom prst="roundRect">
            <a:avLst>
              <a:gd name="adj" fmla="val 5263"/>
            </a:avLst>
          </a:prstGeom>
          <a:solidFill>
            <a:srgbClr val="EAF3FC"/>
          </a:solidFill>
          <a:ln w="9525">
            <a:solidFill>
              <a:srgbClr val="CFE3F7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260336" y="292608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5" name="Image 2" descr="C:\Users\shamo\AppData\Local\Temp\claude\C--Users-shamo-OneDrive---United-Nations-UN-DCO-10---Innovation-Sanbox-The-Grassroots\0eee3bdb-6389-4071-99a7-070b782b3283\scratchpad\iconpng\wheelcha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0531" y="3116275"/>
            <a:ext cx="351130" cy="35113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528816" y="37947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5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Persons with disabilities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9244584" y="2697480"/>
            <a:ext cx="2468880" cy="1737360"/>
          </a:xfrm>
          <a:prstGeom prst="roundRect">
            <a:avLst>
              <a:gd name="adj" fmla="val 5263"/>
            </a:avLst>
          </a:prstGeom>
          <a:solidFill>
            <a:srgbClr val="EAF3FC"/>
          </a:solidFill>
          <a:ln w="9525">
            <a:solidFill>
              <a:srgbClr val="CFE3F7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10113264" y="292608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9" name="Image 3" descr="C:\Users\shamo\AppData\Local\Temp\claude\C--Users-shamo-OneDrive---United-Nations-UN-DCO-10---Innovation-Sanbox-The-Grassroots\0eee3bdb-6389-4071-99a7-070b782b3283\scratchpad\iconpng\hom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3459" y="3116275"/>
            <a:ext cx="351130" cy="35113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9381744" y="37947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5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Refugees, IDPs &amp; host communities</a:t>
            </a:r>
            <a:endParaRPr lang="en-US" sz="1350" dirty="0"/>
          </a:p>
        </p:txBody>
      </p:sp>
      <p:sp>
        <p:nvSpPr>
          <p:cNvPr id="21" name="Shape 15"/>
          <p:cNvSpPr/>
          <p:nvPr/>
        </p:nvSpPr>
        <p:spPr>
          <a:xfrm>
            <a:off x="685800" y="4800600"/>
            <a:ext cx="10817352" cy="1280160"/>
          </a:xfrm>
          <a:prstGeom prst="roundRect">
            <a:avLst>
              <a:gd name="adj" fmla="val 7143"/>
            </a:avLst>
          </a:prstGeom>
          <a:solidFill>
            <a:srgbClr val="FFF4DC"/>
          </a:solidFill>
          <a:ln w="9525">
            <a:solidFill>
              <a:srgbClr val="E8CD93"/>
            </a:solidFill>
            <a:prstDash val="solid"/>
          </a:ln>
        </p:spPr>
      </p:sp>
      <p:pic>
        <p:nvPicPr>
          <p:cNvPr id="22" name="Image 4" descr="C:\Users\shamo\AppData\Local\Temp\claude\C--Users-shamo-OneDrive---United-Nations-UN-DCO-10---Innovation-Sanbox-The-Grassroots\0eee3bdb-6389-4071-99a7-070b782b3283\scratchpad\iconpng\hear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5184648"/>
            <a:ext cx="502920" cy="5029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645920" y="4956048"/>
            <a:ext cx="9601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5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hard question in one click:  </a:t>
            </a:r>
            <a:r>
              <a:rPr lang="en-US" sz="13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"Show me only what reached persons with disabilities in the north-east last quarter." The map, the numbers and the charts all answer together — in the meeting, not a month after it.</a:t>
            </a:r>
            <a:endParaRPr lang="en-US" sz="1350" dirty="0"/>
          </a:p>
        </p:txBody>
      </p:sp>
    </p:spTree>
  </p:cSld>
  <p:clrMapOvr>
    <a:masterClrMapping/>
  </p:clrMapOvr>
  <p:transition spd="slow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2004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B6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BOARDROOM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56692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5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Briefing-ready answers, on demand</a:t>
            </a:r>
            <a:endParaRPr lang="en-US" sz="3600" dirty="0"/>
          </a:p>
        </p:txBody>
      </p:sp>
      <p:pic>
        <p:nvPicPr>
          <p:cNvPr id="4" name="Image 0" descr="C:\Users\shamo\OneDrive - United Nations\UN-DCO\10 — Innovation Sanbox\The Grassroots\docs\screenshots\05-insigh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0200"/>
            <a:ext cx="7452360" cy="46542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035040" y="178308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FFF4DC"/>
          </a:solidFill>
          <a:ln w="9525">
            <a:solidFill>
              <a:srgbClr val="E8CD9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035040" y="178308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A87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DATA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8366760" y="1783080"/>
            <a:ext cx="32461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5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region is delivering? Which funder's portfolio is struggling? Which goal is falling behind?
</a:t>
            </a:r>
            <a:r>
              <a:rPr lang="en-US" sz="13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those is a single click — a live chart drawn from the same numbers the field reported, not a slide assembled the night before.
When the minister, the board or the donor asks a follow-up, you answer it in the room.</a:t>
            </a:r>
            <a:endParaRPr lang="en-US" sz="1300" dirty="0"/>
          </a:p>
        </p:txBody>
      </p:sp>
    </p:spTree>
  </p:cSld>
  <p:clrMapOvr>
    <a:masterClrMapping/>
  </p:clrMapOvr>
  <p:transition spd="slow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2004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B6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FOR YOUR REALITY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56692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5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procurement. No installation. No training week.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85800" y="173736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opens like a web page, because it is one. If someone on your team can use a browser, they can use this — today.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85800" y="2514600"/>
            <a:ext cx="2468880" cy="3063240"/>
          </a:xfrm>
          <a:prstGeom prst="roundRect">
            <a:avLst>
              <a:gd name="adj" fmla="val 3704"/>
            </a:avLst>
          </a:prstGeom>
          <a:solidFill>
            <a:srgbClr val="EAF3FC"/>
          </a:solidFill>
          <a:ln w="9525">
            <a:solidFill>
              <a:srgbClr val="CFE3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8408" y="2788920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0" descr="C:\Users\shamo\AppData\Local\Temp\claude\C--Users-shamo-OneDrive---United-Nations-UN-DCO-10---Innovation-Sanbox-The-Grassroots\0eee3bdb-6389-4071-99a7-070b782b3283\scratchpad\iconpng\lap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4829" y="29553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78408" y="361188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15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 in a browser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978408" y="4343400"/>
            <a:ext cx="1965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modern computer. Nothing to install, nothing for IT to approve.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538728" y="2514600"/>
            <a:ext cx="2468880" cy="3063240"/>
          </a:xfrm>
          <a:prstGeom prst="roundRect">
            <a:avLst>
              <a:gd name="adj" fmla="val 3704"/>
            </a:avLst>
          </a:prstGeom>
          <a:solidFill>
            <a:srgbClr val="EAF3FC"/>
          </a:solidFill>
          <a:ln w="9525">
            <a:solidFill>
              <a:srgbClr val="CFE3F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831336" y="2788920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Image 1" descr="C:\Users\shamo\AppData\Local\Temp\claude\C--Users-shamo-OneDrive---United-Nations-UN-DCO-10---Innovation-Sanbox-The-Grassroots\0eee3bdb-6389-4071-99a7-070b782b3283\scratchpad\iconpng\rocket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7757" y="295534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831336" y="361188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15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Ready in seconds</a:t>
            </a:r>
            <a:endParaRPr lang="en-US" sz="1550" dirty="0"/>
          </a:p>
        </p:txBody>
      </p:sp>
      <p:sp>
        <p:nvSpPr>
          <p:cNvPr id="14" name="Text 10"/>
          <p:cNvSpPr/>
          <p:nvPr/>
        </p:nvSpPr>
        <p:spPr>
          <a:xfrm>
            <a:off x="3831336" y="4343400"/>
            <a:ext cx="1965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address, sign in, and the whole demonstration portfolio is in front of you.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391656" y="2514600"/>
            <a:ext cx="2468880" cy="3063240"/>
          </a:xfrm>
          <a:prstGeom prst="roundRect">
            <a:avLst>
              <a:gd name="adj" fmla="val 3704"/>
            </a:avLst>
          </a:prstGeom>
          <a:solidFill>
            <a:srgbClr val="EAF3FC"/>
          </a:solidFill>
          <a:ln w="9525">
            <a:solidFill>
              <a:srgbClr val="CFE3F7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684264" y="2788920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7" name="Image 2" descr="C:\Users\shamo\AppData\Local\Temp\claude\C--Users-shamo-OneDrive---United-Nations-UN-DCO-10---Innovation-Sanbox-The-Grassroots\0eee3bdb-6389-4071-99a7-070b782b3283\scratchpad\iconpng\shie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0685" y="2955341"/>
            <a:ext cx="307238" cy="30723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684264" y="361188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15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data stays yours</a:t>
            </a:r>
            <a:endParaRPr lang="en-US" sz="1550" dirty="0"/>
          </a:p>
        </p:txBody>
      </p:sp>
      <p:sp>
        <p:nvSpPr>
          <p:cNvPr id="19" name="Text 14"/>
          <p:cNvSpPr/>
          <p:nvPr/>
        </p:nvSpPr>
        <p:spPr>
          <a:xfrm>
            <a:off x="6684264" y="4343400"/>
            <a:ext cx="1965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enter lives with you — it is not shipped off to someone else's system.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9244584" y="2514600"/>
            <a:ext cx="2468880" cy="3063240"/>
          </a:xfrm>
          <a:prstGeom prst="roundRect">
            <a:avLst>
              <a:gd name="adj" fmla="val 3704"/>
            </a:avLst>
          </a:prstGeom>
          <a:solidFill>
            <a:srgbClr val="EAF3FC"/>
          </a:solidFill>
          <a:ln w="9525">
            <a:solidFill>
              <a:srgbClr val="CFE3F7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537192" y="2788920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Image 3" descr="C:\Users\shamo\AppData\Local\Temp\claude\C--Users-shamo-OneDrive---United-Nations-UN-DCO-10---Innovation-Sanbox-The-Grassroots\0eee3bdb-6389-4071-99a7-070b782b3283\scratchpad\iconpng\compas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03613" y="2955341"/>
            <a:ext cx="307238" cy="30723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537192" y="361188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15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Familiar from the first minute</a:t>
            </a:r>
            <a:endParaRPr lang="en-US" sz="1550" dirty="0"/>
          </a:p>
        </p:txBody>
      </p:sp>
      <p:sp>
        <p:nvSpPr>
          <p:cNvPr id="24" name="Text 18"/>
          <p:cNvSpPr/>
          <p:nvPr/>
        </p:nvSpPr>
        <p:spPr>
          <a:xfrm>
            <a:off x="9537192" y="4343400"/>
            <a:ext cx="1965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map, filters and traffic lights. If you have used a travel website, you already know how.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685800" y="58064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1B6F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works the same in a ministry in the capital and an office two hours from the nearest paved road.</a:t>
            </a:r>
            <a:endParaRPr lang="en-US" sz="1350" dirty="0"/>
          </a:p>
        </p:txBody>
      </p:sp>
    </p:spTree>
  </p:cSld>
  <p:clrMapOvr>
    <a:masterClrMapping/>
  </p:clrMapOvr>
  <p:transition spd="slow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2004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B6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STANDS TODAY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56692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5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are looking at — plainly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EAF3FC"/>
          </a:solidFill>
          <a:ln w="9525">
            <a:solidFill>
              <a:srgbClr val="CFE3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78408" y="2057400"/>
            <a:ext cx="594360" cy="5943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Image 0" descr="C:\Users\shamo\AppData\Local\Temp\claude\C--Users-shamo-OneDrive---United-Nations-UN-DCO-10---Innovation-Sanbox-The-Grassroots\0eee3bdb-6389-4071-99a7-070b782b3283\scratchpad\iconpng\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942" y="2211934"/>
            <a:ext cx="285293" cy="28529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37360" y="210312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B6F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and working now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1005840" y="2834640"/>
            <a:ext cx="4754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5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map, the traffic lights, the reporting flow and the charts all work — this is a live system, not a mock-up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5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 with a full sample portfolio: two national plans, 56 countries, hundreds of projects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5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to anyone, on any browser, right now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172200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FFF4DC"/>
          </a:solidFill>
          <a:ln w="9525">
            <a:solidFill>
              <a:srgbClr val="E8CD9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64808" y="2057400"/>
            <a:ext cx="594360" cy="5943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1" name="Image 1" descr="C:\Users\shamo\AppData\Local\Temp\claude\C--Users-shamo-OneDrive---United-Nations-UN-DCO-10---Innovation-Sanbox-The-Grassroots\0eee3bdb-6389-4071-99a7-070b782b3283\scratchpad\iconpng\bolt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9342" y="221193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223760" y="210312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A876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about the rest</a:t>
            </a:r>
            <a:endParaRPr lang="en-US" sz="1900" dirty="0"/>
          </a:p>
        </p:txBody>
      </p:sp>
      <p:sp>
        <p:nvSpPr>
          <p:cNvPr id="13" name="Text 9"/>
          <p:cNvSpPr/>
          <p:nvPr/>
        </p:nvSpPr>
        <p:spPr>
          <a:xfrm>
            <a:off x="6492240" y="2834640"/>
            <a:ext cx="4754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5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inside is sample data — invented to demonstrate the functions, never a report on real work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5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it is a demonstration for one user at a time; connecting whole teams is the next step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5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mobile app for offline field areas is on the horizon, not in hand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685800" y="59893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5B6B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would rather you hear the limits from us than discover them yourselves.</a:t>
            </a:r>
            <a:endParaRPr lang="en-US" sz="1350" dirty="0"/>
          </a:p>
        </p:txBody>
      </p:sp>
    </p:spTree>
  </p:cSld>
  <p:clrMapOvr>
    <a:masterClrMapping/>
  </p:clrMapOvr>
  <p:transition spd="slow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2A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46720" y="-1828800"/>
            <a:ext cx="6400800" cy="6400800"/>
          </a:xfrm>
          <a:prstGeom prst="ellipse">
            <a:avLst/>
          </a:prstGeom>
          <a:solidFill>
            <a:srgbClr val="1B6FC2">
              <a:alpha val="17000"/>
            </a:srgbClr>
          </a:solidFill>
          <a:ln w="12700">
            <a:solidFill>
              <a:srgbClr val="1B6FC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828800" y="3657600"/>
            <a:ext cx="5486400" cy="5486400"/>
          </a:xfrm>
          <a:prstGeom prst="ellipse">
            <a:avLst/>
          </a:prstGeom>
          <a:solidFill>
            <a:srgbClr val="3E8BD9">
              <a:alpha val="12000"/>
            </a:srgbClr>
          </a:solidFill>
          <a:ln w="12700">
            <a:solidFill>
              <a:srgbClr val="3E8B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32004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F5B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 FOR YOURSELF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143000"/>
            <a:ext cx="10789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minutes in the demo says more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 any presentation.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85800" y="288036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9D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 on your own screen. Filter to one country. Click a village. Watch the whole picture answer.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85800" y="3657600"/>
            <a:ext cx="6035040" cy="1554480"/>
          </a:xfrm>
          <a:prstGeom prst="roundRect">
            <a:avLst>
              <a:gd name="adj" fmla="val 5882"/>
            </a:avLst>
          </a:prstGeom>
          <a:solidFill>
            <a:srgbClr val="1B6FC2"/>
          </a:solidFill>
          <a:ln w="12700">
            <a:solidFill>
              <a:srgbClr val="1B6FC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384048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thegrassroots.github.io/platform
</a:t>
            </a:r>
            <a:r>
              <a:rPr lang="en-US" sz="1400" dirty="0">
                <a:solidFill>
                  <a:srgbClr val="DCE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in:  demo  /  demo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6995160" y="3657600"/>
            <a:ext cx="4572000" cy="1554480"/>
          </a:xfrm>
          <a:prstGeom prst="roundRect">
            <a:avLst>
              <a:gd name="adj" fmla="val 5882"/>
            </a:avLst>
          </a:prstGeom>
          <a:solidFill>
            <a:srgbClr val="16395F"/>
          </a:solidFill>
          <a:ln w="12700">
            <a:solidFill>
              <a:srgbClr val="1639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0" y="384048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9CC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 to us
</a:t>
            </a: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grassrootstrack@outlook.com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56235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B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remember as you explore: the portfolio inside is sample data, invented to show you the functions.</a:t>
            </a:r>
            <a:endParaRPr lang="en-US" sz="1300" dirty="0"/>
          </a:p>
        </p:txBody>
      </p:sp>
    </p:spTree>
  </p:cSld>
  <p:clrMapOvr>
    <a:masterClrMapping/>
  </p:clrMapOvr>
  <p:transition spd="slow">
    <p:push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8b77875e-5908-45a0-9cb4-dec9ae074618}" enabled="1" method="Privileged" siteId="{0f9e35db-544f-4f60-bdcc-5ea416e6dc70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1301</Words>
  <Application>Microsoft Office PowerPoint</Application>
  <PresentationFormat>Widescreen</PresentationFormat>
  <Paragraphs>119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Grassroots — See what changes on the ground</dc:title>
  <dc:subject>PptxGenJS Presentation</dc:subject>
  <dc:creator>The Grassroots</dc:creator>
  <cp:lastModifiedBy>Aladdin Shamoug</cp:lastModifiedBy>
  <cp:revision>1</cp:revision>
  <dcterms:created xsi:type="dcterms:W3CDTF">2026-07-16T20:57:48Z</dcterms:created>
  <dcterms:modified xsi:type="dcterms:W3CDTF">2026-07-16T21:04:19Z</dcterms:modified>
</cp:coreProperties>
</file>