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Target</c:v>
                </c:pt>
              </c:strCache>
            </c:strRef>
          </c:tx>
          <c:spPr>
            <a:solidFill>
              <a:srgbClr val="8496AB"/>
            </a:solidFill>
            <a:ln w="31750" cap="flat">
              <a:solidFill>
                <a:srgbClr val="8496A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496AB"/>
              </a:solidFill>
              <a:ln w="9525" cap="flat">
                <a:solidFill>
                  <a:srgbClr val="8496A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80</c:v>
                </c:pt>
                <c:pt idx="1">
                  <c:v>80</c:v>
                </c:pt>
                <c:pt idx="2">
                  <c:v>80</c:v>
                </c:pt>
                <c:pt idx="3">
                  <c:v>80</c:v>
                </c:pt>
                <c:pt idx="4">
                  <c:v>80</c:v>
                </c:pt>
                <c:pt idx="5">
                  <c:v>80</c:v>
                </c:pt>
                <c:pt idx="6">
                  <c:v>80</c:v>
                </c:pt>
                <c:pt idx="7">
                  <c:v>80</c:v>
                </c:pt>
                <c:pt idx="8">
                  <c:v>80</c:v>
                </c:pt>
                <c:pt idx="9">
                  <c:v>80</c:v>
                </c:pt>
                <c:pt idx="10">
                  <c:v>80</c:v>
                </c:pt>
                <c:pt idx="11">
                  <c:v>80</c:v>
                </c:pt>
              </c:numCache>
            </c:numRef>
          </c:val>
          <c:smooth val="0"/>
        </c:ser>
        <c:ser>
          <c:idx val="1"/>
          <c:order val="1"/>
          <c:tx>
            <c:strRef>
              <c:f>Sheet1!$C$1</c:f>
              <c:strCache>
                <c:ptCount val="1"/>
                <c:pt idx="0">
                  <c:v>Best case</c:v>
                </c:pt>
              </c:strCache>
            </c:strRef>
          </c:tx>
          <c:spPr>
            <a:solidFill>
              <a:srgbClr val="16A34A"/>
            </a:solidFill>
            <a:ln w="31750" cap="flat">
              <a:solidFill>
                <a:srgbClr val="16A3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A34A"/>
              </a:solidFill>
              <a:ln w="9525" cap="flat">
                <a:solidFill>
                  <a:srgbClr val="16A34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31</c:v>
                </c:pt>
                <c:pt idx="1">
                  <c:v>35</c:v>
                </c:pt>
                <c:pt idx="2">
                  <c:v>39</c:v>
                </c:pt>
                <c:pt idx="3">
                  <c:v>43</c:v>
                </c:pt>
                <c:pt idx="4">
                  <c:v>48</c:v>
                </c:pt>
                <c:pt idx="5">
                  <c:v>53</c:v>
                </c:pt>
                <c:pt idx="6">
                  <c:v>57</c:v>
                </c:pt>
                <c:pt idx="7">
                  <c:v>62</c:v>
                </c:pt>
                <c:pt idx="8">
                  <c:v>66</c:v>
                </c:pt>
                <c:pt idx="9">
                  <c:v>70</c:v>
                </c:pt>
                <c:pt idx="10">
                  <c:v>74</c:v>
                </c:pt>
                <c:pt idx="11">
                  <c:v>78</c:v>
                </c:pt>
              </c:numCache>
            </c:numRef>
          </c:val>
          <c:smooth val="0"/>
        </c:ser>
        <c:ser>
          <c:idx val="2"/>
          <c:order val="2"/>
          <c:tx>
            <c:strRef>
              <c:f>Sheet1!$D$1</c:f>
              <c:strCache>
                <c:ptCount val="1"/>
                <c:pt idx="0">
                  <c:v>Realistic</c:v>
                </c:pt>
              </c:strCache>
            </c:strRef>
          </c:tx>
          <c:spPr>
            <a:solidFill>
              <a:srgbClr val="009EDB"/>
            </a:solidFill>
            <a:ln w="31750" cap="flat">
              <a:solidFill>
                <a:srgbClr val="009E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9EDB"/>
              </a:solidFill>
              <a:ln w="9525" cap="flat">
                <a:solidFill>
                  <a:srgbClr val="009ED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31</c:v>
                </c:pt>
                <c:pt idx="1">
                  <c:v>34</c:v>
                </c:pt>
                <c:pt idx="2">
                  <c:v>37</c:v>
                </c:pt>
                <c:pt idx="3">
                  <c:v>40</c:v>
                </c:pt>
                <c:pt idx="4">
                  <c:v>43</c:v>
                </c:pt>
                <c:pt idx="5">
                  <c:v>46</c:v>
                </c:pt>
                <c:pt idx="6">
                  <c:v>48</c:v>
                </c:pt>
                <c:pt idx="7">
                  <c:v>51</c:v>
                </c:pt>
                <c:pt idx="8">
                  <c:v>54</c:v>
                </c:pt>
                <c:pt idx="9">
                  <c:v>56</c:v>
                </c:pt>
                <c:pt idx="10">
                  <c:v>59</c:v>
                </c:pt>
                <c:pt idx="11">
                  <c:v>62</c:v>
                </c:pt>
              </c:numCache>
            </c:numRef>
          </c:val>
          <c:smooth val="0"/>
        </c:ser>
        <c:ser>
          <c:idx val="3"/>
          <c:order val="3"/>
          <c:tx>
            <c:strRef>
              <c:f>Sheet1!$E$1</c:f>
              <c:strCache>
                <c:ptCount val="1"/>
                <c:pt idx="0">
                  <c:v>Worst case</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Sheet1!$E$2:$E$13</c:f>
              <c:numCache>
                <c:formatCode>General</c:formatCode>
                <c:ptCount val="12"/>
                <c:pt idx="0">
                  <c:v>31</c:v>
                </c:pt>
                <c:pt idx="1">
                  <c:v>33</c:v>
                </c:pt>
                <c:pt idx="2">
                  <c:v>35</c:v>
                </c:pt>
                <c:pt idx="3">
                  <c:v>36</c:v>
                </c:pt>
                <c:pt idx="4">
                  <c:v>38</c:v>
                </c:pt>
                <c:pt idx="5">
                  <c:v>40</c:v>
                </c:pt>
                <c:pt idx="6">
                  <c:v>42</c:v>
                </c:pt>
                <c:pt idx="7">
                  <c:v>44</c:v>
                </c:pt>
                <c:pt idx="8">
                  <c:v>46</c:v>
                </c:pt>
                <c:pt idx="9">
                  <c:v>47</c:v>
                </c:pt>
                <c:pt idx="10">
                  <c:v>49</c:v>
                </c:pt>
                <c:pt idx="11">
                  <c:v>51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7586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786384"/>
            <a:ext cx="548640" cy="548640"/>
          </a:xfrm>
          <a:prstGeom prst="ellipse">
            <a:avLst/>
          </a:prstGeom>
          <a:solidFill>
            <a:srgbClr val="FFFFFF"/>
          </a:solidFill>
          <a:ln w="53340">
            <a:solidFill>
              <a:srgbClr val="009EDB"/>
            </a:solidFill>
            <a:prstDash val="solid"/>
          </a:ln>
        </p:spPr>
      </p:sp>
      <p:sp>
        <p:nvSpPr>
          <p:cNvPr id="3" name="Shape 1"/>
          <p:cNvSpPr/>
          <p:nvPr/>
        </p:nvSpPr>
        <p:spPr>
          <a:xfrm>
            <a:off x="1042416" y="742493"/>
            <a:ext cx="175565" cy="175565"/>
          </a:xfrm>
          <a:prstGeom prst="ellipse">
            <a:avLst/>
          </a:prstGeom>
          <a:solidFill>
            <a:srgbClr val="009EDB"/>
          </a:solidFill>
          <a:ln w="12700">
            <a:solidFill>
              <a:srgbClr val="333333"/>
            </a:solidFill>
            <a:prstDash val="solid"/>
          </a:ln>
        </p:spPr>
      </p:sp>
      <p:sp>
        <p:nvSpPr>
          <p:cNvPr id="4" name="Text 2"/>
          <p:cNvSpPr txBox="1"/>
          <p:nvPr/>
        </p:nvSpPr>
        <p:spPr>
          <a:xfrm>
            <a:off x="1499616" y="841248"/>
            <a:ext cx="5486400" cy="384048"/>
          </a:xfrm>
          <a:prstGeom prst="rect">
            <a:avLst/>
          </a:prstGeom>
          <a:noFill/>
          <a:ln/>
        </p:spPr>
        <p:txBody>
          <a:bodyPr wrap="square" lIns="0" tIns="0" rIns="0" bIns="0" rtlCol="0" anchor="ctr"/>
          <a:lstStyle/>
          <a:p>
            <a:pPr indent="0" marL="0">
              <a:buNone/>
            </a:pPr>
            <a:r>
              <a:rPr lang="en-US" sz="1500" b="1" spc="300" kern="0" dirty="0">
                <a:solidFill>
                  <a:srgbClr val="13293F"/>
                </a:solidFill>
                <a:latin typeface="Calibri" pitchFamily="34" charset="0"/>
                <a:ea typeface="Calibri" pitchFamily="34" charset="-122"/>
                <a:cs typeface="Calibri" pitchFamily="34" charset="-120"/>
              </a:rPr>
              <a:t>THE GRASSROOTS</a:t>
            </a:r>
            <a:endParaRPr lang="en-US" sz="1500" dirty="0"/>
          </a:p>
        </p:txBody>
      </p:sp>
      <p:sp>
        <p:nvSpPr>
          <p:cNvPr id="5" name="Text 3"/>
          <p:cNvSpPr txBox="1"/>
          <p:nvPr/>
        </p:nvSpPr>
        <p:spPr>
          <a:xfrm>
            <a:off x="658368" y="2121408"/>
            <a:ext cx="9960559" cy="1737360"/>
          </a:xfrm>
          <a:prstGeom prst="rect">
            <a:avLst/>
          </a:prstGeom>
          <a:noFill/>
          <a:ln/>
        </p:spPr>
        <p:txBody>
          <a:bodyPr wrap="square" lIns="0" tIns="0" rIns="0" bIns="0" rtlCol="0" anchor="ctr"/>
          <a:lstStyle/>
          <a:p>
            <a:pPr indent="0" marL="0">
              <a:lnSpc>
                <a:spcPts val="5000"/>
              </a:lnSpc>
              <a:buNone/>
            </a:pPr>
            <a:r>
              <a:rPr lang="en-US" sz="4000" b="1" dirty="0">
                <a:solidFill>
                  <a:srgbClr val="13293F"/>
                </a:solidFill>
                <a:latin typeface="Century Schoolbook" pitchFamily="34" charset="0"/>
                <a:ea typeface="Century Schoolbook" pitchFamily="34" charset="-122"/>
                <a:cs typeface="Century Schoolbook" pitchFamily="34" charset="-120"/>
              </a:rPr>
              <a:t>A single source of evidence for</a:t>
            </a:r>
            <a:endParaRPr lang="en-US" sz="4000" dirty="0"/>
          </a:p>
          <a:p>
            <a:pPr indent="0" marL="0">
              <a:lnSpc>
                <a:spcPts val="5000"/>
              </a:lnSpc>
              <a:buNone/>
            </a:pPr>
            <a:r>
              <a:rPr lang="en-US" sz="4000" b="1" dirty="0">
                <a:solidFill>
                  <a:srgbClr val="13293F"/>
                </a:solidFill>
                <a:latin typeface="Century Schoolbook" pitchFamily="34" charset="0"/>
                <a:ea typeface="Century Schoolbook" pitchFamily="34" charset="-122"/>
                <a:cs typeface="Century Schoolbook" pitchFamily="34" charset="-120"/>
              </a:rPr>
              <a:t>results-based management.</a:t>
            </a:r>
            <a:endParaRPr lang="en-US" sz="4000" dirty="0"/>
          </a:p>
        </p:txBody>
      </p:sp>
      <p:sp>
        <p:nvSpPr>
          <p:cNvPr id="6" name="Text 4"/>
          <p:cNvSpPr txBox="1"/>
          <p:nvPr/>
        </p:nvSpPr>
        <p:spPr>
          <a:xfrm>
            <a:off x="658368" y="4041648"/>
            <a:ext cx="8497519" cy="1188720"/>
          </a:xfrm>
          <a:prstGeom prst="rect">
            <a:avLst/>
          </a:prstGeom>
          <a:noFill/>
          <a:ln/>
        </p:spPr>
        <p:txBody>
          <a:bodyPr wrap="square" lIns="0" tIns="0" rIns="0" bIns="0" rtlCol="0" anchor="ctr"/>
          <a:lstStyle/>
          <a:p>
            <a:pPr indent="0" marL="0">
              <a:lnSpc>
                <a:spcPts val="2200"/>
              </a:lnSpc>
              <a:buNone/>
            </a:pPr>
            <a:r>
              <a:rPr lang="en-US" sz="1400" dirty="0">
                <a:solidFill>
                  <a:srgbClr val="47586E"/>
                </a:solidFill>
                <a:latin typeface="Calibri" pitchFamily="34" charset="0"/>
                <a:ea typeface="Calibri" pitchFamily="34" charset="-122"/>
                <a:cs typeface="Calibri" pitchFamily="34" charset="-120"/>
              </a:rPr>
              <a:t>The Grassroots holds the results framework, the delivery chain and the field record in one system, and derives the performance of every indicator from that record. Institutions read the same figures at the same time, and each figure can be traced to its source.</a:t>
            </a:r>
            <a:endParaRPr lang="en-US" sz="1400" dirty="0"/>
          </a:p>
        </p:txBody>
      </p:sp>
      <p:sp>
        <p:nvSpPr>
          <p:cNvPr id="7" name="Shape 5"/>
          <p:cNvSpPr/>
          <p:nvPr/>
        </p:nvSpPr>
        <p:spPr>
          <a:xfrm>
            <a:off x="658368" y="5888736"/>
            <a:ext cx="1371600" cy="27432"/>
          </a:xfrm>
          <a:prstGeom prst="rect">
            <a:avLst/>
          </a:prstGeom>
          <a:solidFill>
            <a:srgbClr val="009EDB"/>
          </a:solidFill>
          <a:ln w="12700">
            <a:solidFill>
              <a:srgbClr val="333333"/>
            </a:solidFill>
            <a:prstDash val="solid"/>
          </a:ln>
        </p:spPr>
      </p:sp>
      <p:sp>
        <p:nvSpPr>
          <p:cNvPr id="8" name="Text 6"/>
          <p:cNvSpPr txBox="1"/>
          <p:nvPr/>
        </p:nvSpPr>
        <p:spPr>
          <a:xfrm>
            <a:off x="658368" y="6071616"/>
            <a:ext cx="5486400" cy="274320"/>
          </a:xfrm>
          <a:prstGeom prst="rect">
            <a:avLst/>
          </a:prstGeom>
          <a:noFill/>
          <a:ln/>
        </p:spPr>
        <p:txBody>
          <a:bodyPr wrap="square" lIns="0" tIns="0" rIns="0" bIns="0" rtlCol="0" anchor="ctr"/>
          <a:lstStyle/>
          <a:p>
            <a:pPr indent="0" marL="0">
              <a:buNone/>
            </a:pPr>
            <a:r>
              <a:rPr lang="en-US" sz="1000" spc="220" kern="0" dirty="0">
                <a:solidFill>
                  <a:srgbClr val="8496AB"/>
                </a:solidFill>
                <a:latin typeface="Calibri" pitchFamily="34" charset="0"/>
                <a:ea typeface="Calibri" pitchFamily="34" charset="-122"/>
                <a:cs typeface="Calibri" pitchFamily="34" charset="-120"/>
              </a:rPr>
              <a:t>PLATFORM OVERVIEW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THE CASE FOR CHANGE</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Quarterly cycles report on a period that has already closed.</a:t>
            </a:r>
            <a:endParaRPr lang="en-US" sz="2500" dirty="0"/>
          </a:p>
        </p:txBody>
      </p:sp>
      <p:sp>
        <p:nvSpPr>
          <p:cNvPr id="4" name="Shape 2"/>
          <p:cNvSpPr/>
          <p:nvPr/>
        </p:nvSpPr>
        <p:spPr>
          <a:xfrm>
            <a:off x="658368" y="1847088"/>
            <a:ext cx="3405530" cy="2523744"/>
          </a:xfrm>
          <a:prstGeom prst="roundRect">
            <a:avLst>
              <a:gd name="adj" fmla="val 2536"/>
            </a:avLst>
          </a:prstGeom>
          <a:solidFill>
            <a:srgbClr val="F7FAFC"/>
          </a:solidFill>
          <a:ln w="12700">
            <a:solidFill>
              <a:srgbClr val="E3EAF2"/>
            </a:solidFill>
            <a:prstDash val="solid"/>
          </a:ln>
        </p:spPr>
      </p:sp>
      <p:sp>
        <p:nvSpPr>
          <p:cNvPr id="5" name="Shape 3"/>
          <p:cNvSpPr/>
          <p:nvPr/>
        </p:nvSpPr>
        <p:spPr>
          <a:xfrm>
            <a:off x="914400" y="2153412"/>
            <a:ext cx="82296" cy="82296"/>
          </a:xfrm>
          <a:prstGeom prst="ellipse">
            <a:avLst/>
          </a:prstGeom>
          <a:solidFill>
            <a:srgbClr val="009EDB"/>
          </a:solidFill>
          <a:ln w="12700">
            <a:solidFill>
              <a:srgbClr val="333333"/>
            </a:solidFill>
            <a:prstDash val="solid"/>
          </a:ln>
        </p:spPr>
      </p:sp>
      <p:sp>
        <p:nvSpPr>
          <p:cNvPr id="6" name="Text 4"/>
          <p:cNvSpPr txBox="1"/>
          <p:nvPr/>
        </p:nvSpPr>
        <p:spPr>
          <a:xfrm>
            <a:off x="1097280"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TIMING</a:t>
            </a:r>
            <a:endParaRPr lang="en-US" sz="950" dirty="0"/>
          </a:p>
        </p:txBody>
      </p:sp>
      <p:sp>
        <p:nvSpPr>
          <p:cNvPr id="7" name="Text 5"/>
          <p:cNvSpPr txBox="1"/>
          <p:nvPr/>
        </p:nvSpPr>
        <p:spPr>
          <a:xfrm>
            <a:off x="914400"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A quarterly return describes a quarter that has ended. Corrective action follows the evidence by at least one cycle, and often by two.</a:t>
            </a:r>
            <a:endParaRPr lang="en-US" sz="1200" dirty="0"/>
          </a:p>
        </p:txBody>
      </p:sp>
      <p:sp>
        <p:nvSpPr>
          <p:cNvPr id="8" name="Shape 6"/>
          <p:cNvSpPr/>
          <p:nvPr/>
        </p:nvSpPr>
        <p:spPr>
          <a:xfrm>
            <a:off x="4393082" y="1847088"/>
            <a:ext cx="3405530" cy="2523744"/>
          </a:xfrm>
          <a:prstGeom prst="roundRect">
            <a:avLst>
              <a:gd name="adj" fmla="val 2536"/>
            </a:avLst>
          </a:prstGeom>
          <a:solidFill>
            <a:srgbClr val="F7FAFC"/>
          </a:solidFill>
          <a:ln w="12700">
            <a:solidFill>
              <a:srgbClr val="E3EAF2"/>
            </a:solidFill>
            <a:prstDash val="solid"/>
          </a:ln>
        </p:spPr>
      </p:sp>
      <p:sp>
        <p:nvSpPr>
          <p:cNvPr id="9" name="Shape 7"/>
          <p:cNvSpPr/>
          <p:nvPr/>
        </p:nvSpPr>
        <p:spPr>
          <a:xfrm>
            <a:off x="4649114" y="2153412"/>
            <a:ext cx="82296" cy="82296"/>
          </a:xfrm>
          <a:prstGeom prst="ellipse">
            <a:avLst/>
          </a:prstGeom>
          <a:solidFill>
            <a:srgbClr val="009EDB"/>
          </a:solidFill>
          <a:ln w="12700">
            <a:solidFill>
              <a:srgbClr val="333333"/>
            </a:solidFill>
            <a:prstDash val="solid"/>
          </a:ln>
        </p:spPr>
      </p:sp>
      <p:sp>
        <p:nvSpPr>
          <p:cNvPr id="10" name="Text 8"/>
          <p:cNvSpPr txBox="1"/>
          <p:nvPr/>
        </p:nvSpPr>
        <p:spPr>
          <a:xfrm>
            <a:off x="4831994"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CONSISTENCY</a:t>
            </a:r>
            <a:endParaRPr lang="en-US" sz="950" dirty="0"/>
          </a:p>
        </p:txBody>
      </p:sp>
      <p:sp>
        <p:nvSpPr>
          <p:cNvPr id="11" name="Text 9"/>
          <p:cNvSpPr txBox="1"/>
          <p:nvPr/>
        </p:nvSpPr>
        <p:spPr>
          <a:xfrm>
            <a:off x="4649114"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Status is assigned by hand. Two officers working from the same figures record different ratings, and neither rating can be reconstructed.</a:t>
            </a:r>
            <a:endParaRPr lang="en-US" sz="1200" dirty="0"/>
          </a:p>
        </p:txBody>
      </p:sp>
      <p:sp>
        <p:nvSpPr>
          <p:cNvPr id="12" name="Shape 10"/>
          <p:cNvSpPr/>
          <p:nvPr/>
        </p:nvSpPr>
        <p:spPr>
          <a:xfrm>
            <a:off x="8127797" y="1847088"/>
            <a:ext cx="3405530" cy="2523744"/>
          </a:xfrm>
          <a:prstGeom prst="roundRect">
            <a:avLst>
              <a:gd name="adj" fmla="val 2536"/>
            </a:avLst>
          </a:prstGeom>
          <a:solidFill>
            <a:srgbClr val="F7FAFC"/>
          </a:solidFill>
          <a:ln w="12700">
            <a:solidFill>
              <a:srgbClr val="E3EAF2"/>
            </a:solidFill>
            <a:prstDash val="solid"/>
          </a:ln>
        </p:spPr>
      </p:sp>
      <p:sp>
        <p:nvSpPr>
          <p:cNvPr id="13" name="Shape 11"/>
          <p:cNvSpPr/>
          <p:nvPr/>
        </p:nvSpPr>
        <p:spPr>
          <a:xfrm>
            <a:off x="8383829" y="2153412"/>
            <a:ext cx="82296" cy="82296"/>
          </a:xfrm>
          <a:prstGeom prst="ellipse">
            <a:avLst/>
          </a:prstGeom>
          <a:solidFill>
            <a:srgbClr val="009EDB"/>
          </a:solidFill>
          <a:ln w="12700">
            <a:solidFill>
              <a:srgbClr val="333333"/>
            </a:solidFill>
            <a:prstDash val="solid"/>
          </a:ln>
        </p:spPr>
      </p:sp>
      <p:sp>
        <p:nvSpPr>
          <p:cNvPr id="14" name="Text 12"/>
          <p:cNvSpPr txBox="1"/>
          <p:nvPr/>
        </p:nvSpPr>
        <p:spPr>
          <a:xfrm>
            <a:off x="8566709"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FRAGMENTATION</a:t>
            </a:r>
            <a:endParaRPr lang="en-US" sz="950" dirty="0"/>
          </a:p>
        </p:txBody>
      </p:sp>
      <p:sp>
        <p:nvSpPr>
          <p:cNvPr id="15" name="Text 13"/>
          <p:cNvSpPr txBox="1"/>
          <p:nvPr/>
        </p:nvSpPr>
        <p:spPr>
          <a:xfrm>
            <a:off x="8383829"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The framework, the budget and the field record are held separately. Reconciliation is manual and is repeated at every level of aggregation.</a:t>
            </a:r>
            <a:endParaRPr lang="en-US" sz="1200" dirty="0"/>
          </a:p>
        </p:txBody>
      </p:sp>
      <p:sp>
        <p:nvSpPr>
          <p:cNvPr id="16" name="Shape 14"/>
          <p:cNvSpPr/>
          <p:nvPr/>
        </p:nvSpPr>
        <p:spPr>
          <a:xfrm>
            <a:off x="658368" y="4663440"/>
            <a:ext cx="10874959" cy="896112"/>
          </a:xfrm>
          <a:prstGeom prst="roundRect">
            <a:avLst>
              <a:gd name="adj" fmla="val 6122"/>
            </a:avLst>
          </a:prstGeom>
          <a:solidFill>
            <a:srgbClr val="EAF6FD"/>
          </a:solidFill>
          <a:ln w="12700">
            <a:solidFill>
              <a:srgbClr val="333333"/>
            </a:solidFill>
            <a:prstDash val="solid"/>
          </a:ln>
        </p:spPr>
      </p:sp>
      <p:sp>
        <p:nvSpPr>
          <p:cNvPr id="17" name="Text 15"/>
          <p:cNvSpPr txBox="1"/>
          <p:nvPr/>
        </p:nvSpPr>
        <p:spPr>
          <a:xfrm>
            <a:off x="969264" y="4809744"/>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These three constraints compound. Late evidence is reconciled slowly, and the rating placed on it cannot be verified. The platform addresses all three in one model.</a:t>
            </a:r>
            <a:endParaRPr lang="en-US" sz="1250" dirty="0"/>
          </a:p>
        </p:txBody>
      </p:sp>
      <p:sp>
        <p:nvSpPr>
          <p:cNvPr id="18" name="Text 16"/>
          <p:cNvSpPr txBox="1"/>
          <p:nvPr/>
        </p:nvSpPr>
        <p:spPr>
          <a:xfrm>
            <a:off x="658368" y="5760720"/>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Applies to portfolios managed across multiple countries, donors and implementing partners.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THE MODEL</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One results chain connects a field report to the plan it serves.</a:t>
            </a:r>
            <a:endParaRPr lang="en-US" sz="2500" dirty="0"/>
          </a:p>
        </p:txBody>
      </p:sp>
      <p:sp>
        <p:nvSpPr>
          <p:cNvPr id="4" name="Shape 2"/>
          <p:cNvSpPr/>
          <p:nvPr/>
        </p:nvSpPr>
        <p:spPr>
          <a:xfrm>
            <a:off x="658368" y="1847088"/>
            <a:ext cx="1955536" cy="1188720"/>
          </a:xfrm>
          <a:prstGeom prst="roundRect">
            <a:avLst>
              <a:gd name="adj" fmla="val 5385"/>
            </a:avLst>
          </a:prstGeom>
          <a:solidFill>
            <a:srgbClr val="FFFFFF"/>
          </a:solidFill>
          <a:ln w="12700">
            <a:solidFill>
              <a:srgbClr val="E3EAF2"/>
            </a:solidFill>
            <a:prstDash val="solid"/>
          </a:ln>
        </p:spPr>
      </p:sp>
      <p:sp>
        <p:nvSpPr>
          <p:cNvPr id="5" name="Text 3"/>
          <p:cNvSpPr txBox="1"/>
          <p:nvPr/>
        </p:nvSpPr>
        <p:spPr>
          <a:xfrm>
            <a:off x="658368" y="2029968"/>
            <a:ext cx="1955536" cy="292608"/>
          </a:xfrm>
          <a:prstGeom prst="rect">
            <a:avLst/>
          </a:prstGeom>
          <a:noFill/>
          <a:ln/>
        </p:spPr>
        <p:txBody>
          <a:bodyPr wrap="square" lIns="0" tIns="0" rIns="0" bIns="0" rtlCol="0" anchor="ctr"/>
          <a:lstStyle/>
          <a:p>
            <a:pPr algn="ct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Plan</a:t>
            </a:r>
            <a:endParaRPr lang="en-US" sz="1400" dirty="0"/>
          </a:p>
        </p:txBody>
      </p:sp>
      <p:sp>
        <p:nvSpPr>
          <p:cNvPr id="6" name="Text 4"/>
          <p:cNvSpPr txBox="1"/>
          <p:nvPr/>
        </p:nvSpPr>
        <p:spPr>
          <a:xfrm>
            <a:off x="749808" y="2359152"/>
            <a:ext cx="1772656" cy="566928"/>
          </a:xfrm>
          <a:prstGeom prst="rect">
            <a:avLst/>
          </a:prstGeom>
          <a:noFill/>
          <a:ln/>
        </p:spPr>
        <p:txBody>
          <a:bodyPr wrap="square" lIns="0" tIns="0" rIns="0" bIns="0" rtlCol="0" anchor="ctr"/>
          <a:lstStyle/>
          <a:p>
            <a:pPr algn="ctr" indent="0" marL="0">
              <a:lnSpc>
                <a:spcPts val="1250"/>
              </a:lnSpc>
              <a:buNone/>
            </a:pPr>
            <a:r>
              <a:rPr lang="en-US" sz="950" dirty="0">
                <a:solidFill>
                  <a:srgbClr val="47586E"/>
                </a:solidFill>
                <a:latin typeface="Calibri" pitchFamily="34" charset="0"/>
                <a:ea typeface="Calibri" pitchFamily="34" charset="-122"/>
                <a:cs typeface="Calibri" pitchFamily="34" charset="-120"/>
              </a:rPr>
              <a:t>The multi-year commitment</a:t>
            </a:r>
            <a:endParaRPr lang="en-US" sz="950" dirty="0"/>
          </a:p>
        </p:txBody>
      </p:sp>
      <p:sp>
        <p:nvSpPr>
          <p:cNvPr id="7" name="Shape 5"/>
          <p:cNvSpPr/>
          <p:nvPr/>
        </p:nvSpPr>
        <p:spPr>
          <a:xfrm>
            <a:off x="2664196" y="2434133"/>
            <a:ext cx="173736" cy="14630"/>
          </a:xfrm>
          <a:prstGeom prst="rect">
            <a:avLst/>
          </a:prstGeom>
          <a:solidFill>
            <a:srgbClr val="009EDB"/>
          </a:solidFill>
          <a:ln w="12700">
            <a:solidFill>
              <a:srgbClr val="333333"/>
            </a:solidFill>
            <a:prstDash val="solid"/>
          </a:ln>
        </p:spPr>
      </p:sp>
      <p:sp>
        <p:nvSpPr>
          <p:cNvPr id="8" name="Shape 6"/>
          <p:cNvSpPr/>
          <p:nvPr/>
        </p:nvSpPr>
        <p:spPr>
          <a:xfrm>
            <a:off x="2796784" y="2400300"/>
            <a:ext cx="82296" cy="82296"/>
          </a:xfrm>
          <a:prstGeom prst="ellipse">
            <a:avLst/>
          </a:prstGeom>
          <a:solidFill>
            <a:srgbClr val="009EDB"/>
          </a:solidFill>
          <a:ln w="12700">
            <a:solidFill>
              <a:srgbClr val="333333"/>
            </a:solidFill>
            <a:prstDash val="solid"/>
          </a:ln>
        </p:spPr>
      </p:sp>
      <p:sp>
        <p:nvSpPr>
          <p:cNvPr id="9" name="Shape 7"/>
          <p:cNvSpPr/>
          <p:nvPr/>
        </p:nvSpPr>
        <p:spPr>
          <a:xfrm>
            <a:off x="2888224" y="1847088"/>
            <a:ext cx="1955536" cy="1188720"/>
          </a:xfrm>
          <a:prstGeom prst="roundRect">
            <a:avLst>
              <a:gd name="adj" fmla="val 5385"/>
            </a:avLst>
          </a:prstGeom>
          <a:solidFill>
            <a:srgbClr val="FFFFFF"/>
          </a:solidFill>
          <a:ln w="12700">
            <a:solidFill>
              <a:srgbClr val="E3EAF2"/>
            </a:solidFill>
            <a:prstDash val="solid"/>
          </a:ln>
        </p:spPr>
      </p:sp>
      <p:sp>
        <p:nvSpPr>
          <p:cNvPr id="10" name="Text 8"/>
          <p:cNvSpPr txBox="1"/>
          <p:nvPr/>
        </p:nvSpPr>
        <p:spPr>
          <a:xfrm>
            <a:off x="2888224" y="2029968"/>
            <a:ext cx="1955536" cy="292608"/>
          </a:xfrm>
          <a:prstGeom prst="rect">
            <a:avLst/>
          </a:prstGeom>
          <a:noFill/>
          <a:ln/>
        </p:spPr>
        <p:txBody>
          <a:bodyPr wrap="square" lIns="0" tIns="0" rIns="0" bIns="0" rtlCol="0" anchor="ctr"/>
          <a:lstStyle/>
          <a:p>
            <a:pPr algn="ct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Impact</a:t>
            </a:r>
            <a:endParaRPr lang="en-US" sz="1400" dirty="0"/>
          </a:p>
        </p:txBody>
      </p:sp>
      <p:sp>
        <p:nvSpPr>
          <p:cNvPr id="11" name="Text 9"/>
          <p:cNvSpPr txBox="1"/>
          <p:nvPr/>
        </p:nvSpPr>
        <p:spPr>
          <a:xfrm>
            <a:off x="2979664" y="2359152"/>
            <a:ext cx="1772656" cy="566928"/>
          </a:xfrm>
          <a:prstGeom prst="rect">
            <a:avLst/>
          </a:prstGeom>
          <a:noFill/>
          <a:ln/>
        </p:spPr>
        <p:txBody>
          <a:bodyPr wrap="square" lIns="0" tIns="0" rIns="0" bIns="0" rtlCol="0" anchor="ctr"/>
          <a:lstStyle/>
          <a:p>
            <a:pPr algn="ctr" indent="0" marL="0">
              <a:lnSpc>
                <a:spcPts val="1250"/>
              </a:lnSpc>
              <a:buNone/>
            </a:pPr>
            <a:r>
              <a:rPr lang="en-US" sz="950" dirty="0">
                <a:solidFill>
                  <a:srgbClr val="47586E"/>
                </a:solidFill>
                <a:latin typeface="Calibri" pitchFamily="34" charset="0"/>
                <a:ea typeface="Calibri" pitchFamily="34" charset="-122"/>
                <a:cs typeface="Calibri" pitchFamily="34" charset="-120"/>
              </a:rPr>
              <a:t>The long-term change sought</a:t>
            </a:r>
            <a:endParaRPr lang="en-US" sz="950" dirty="0"/>
          </a:p>
        </p:txBody>
      </p:sp>
      <p:sp>
        <p:nvSpPr>
          <p:cNvPr id="12" name="Shape 10"/>
          <p:cNvSpPr/>
          <p:nvPr/>
        </p:nvSpPr>
        <p:spPr>
          <a:xfrm>
            <a:off x="4894052" y="2434133"/>
            <a:ext cx="173736" cy="14630"/>
          </a:xfrm>
          <a:prstGeom prst="rect">
            <a:avLst/>
          </a:prstGeom>
          <a:solidFill>
            <a:srgbClr val="009EDB"/>
          </a:solidFill>
          <a:ln w="12700">
            <a:solidFill>
              <a:srgbClr val="333333"/>
            </a:solidFill>
            <a:prstDash val="solid"/>
          </a:ln>
        </p:spPr>
      </p:sp>
      <p:sp>
        <p:nvSpPr>
          <p:cNvPr id="13" name="Shape 11"/>
          <p:cNvSpPr/>
          <p:nvPr/>
        </p:nvSpPr>
        <p:spPr>
          <a:xfrm>
            <a:off x="5026640" y="2400300"/>
            <a:ext cx="82296" cy="82296"/>
          </a:xfrm>
          <a:prstGeom prst="ellipse">
            <a:avLst/>
          </a:prstGeom>
          <a:solidFill>
            <a:srgbClr val="009EDB"/>
          </a:solidFill>
          <a:ln w="12700">
            <a:solidFill>
              <a:srgbClr val="333333"/>
            </a:solidFill>
            <a:prstDash val="solid"/>
          </a:ln>
        </p:spPr>
      </p:sp>
      <p:sp>
        <p:nvSpPr>
          <p:cNvPr id="14" name="Shape 12"/>
          <p:cNvSpPr/>
          <p:nvPr/>
        </p:nvSpPr>
        <p:spPr>
          <a:xfrm>
            <a:off x="5118080" y="1847088"/>
            <a:ext cx="1955536" cy="1188720"/>
          </a:xfrm>
          <a:prstGeom prst="roundRect">
            <a:avLst>
              <a:gd name="adj" fmla="val 5385"/>
            </a:avLst>
          </a:prstGeom>
          <a:solidFill>
            <a:srgbClr val="FFFFFF"/>
          </a:solidFill>
          <a:ln w="12700">
            <a:solidFill>
              <a:srgbClr val="E3EAF2"/>
            </a:solidFill>
            <a:prstDash val="solid"/>
          </a:ln>
        </p:spPr>
      </p:sp>
      <p:sp>
        <p:nvSpPr>
          <p:cNvPr id="15" name="Text 13"/>
          <p:cNvSpPr txBox="1"/>
          <p:nvPr/>
        </p:nvSpPr>
        <p:spPr>
          <a:xfrm>
            <a:off x="5118080" y="2029968"/>
            <a:ext cx="1955536" cy="292608"/>
          </a:xfrm>
          <a:prstGeom prst="rect">
            <a:avLst/>
          </a:prstGeom>
          <a:noFill/>
          <a:ln/>
        </p:spPr>
        <p:txBody>
          <a:bodyPr wrap="square" lIns="0" tIns="0" rIns="0" bIns="0" rtlCol="0" anchor="ctr"/>
          <a:lstStyle/>
          <a:p>
            <a:pPr algn="ct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Outcome</a:t>
            </a:r>
            <a:endParaRPr lang="en-US" sz="1400" dirty="0"/>
          </a:p>
        </p:txBody>
      </p:sp>
      <p:sp>
        <p:nvSpPr>
          <p:cNvPr id="16" name="Text 14"/>
          <p:cNvSpPr txBox="1"/>
          <p:nvPr/>
        </p:nvSpPr>
        <p:spPr>
          <a:xfrm>
            <a:off x="5209520" y="2359152"/>
            <a:ext cx="1772656" cy="566928"/>
          </a:xfrm>
          <a:prstGeom prst="rect">
            <a:avLst/>
          </a:prstGeom>
          <a:noFill/>
          <a:ln/>
        </p:spPr>
        <p:txBody>
          <a:bodyPr wrap="square" lIns="0" tIns="0" rIns="0" bIns="0" rtlCol="0" anchor="ctr"/>
          <a:lstStyle/>
          <a:p>
            <a:pPr algn="ctr" indent="0" marL="0">
              <a:lnSpc>
                <a:spcPts val="1250"/>
              </a:lnSpc>
              <a:buNone/>
            </a:pPr>
            <a:r>
              <a:rPr lang="en-US" sz="950" dirty="0">
                <a:solidFill>
                  <a:srgbClr val="47586E"/>
                </a:solidFill>
                <a:latin typeface="Calibri" pitchFamily="34" charset="0"/>
                <a:ea typeface="Calibri" pitchFamily="34" charset="-122"/>
                <a:cs typeface="Calibri" pitchFamily="34" charset="-120"/>
              </a:rPr>
              <a:t>The intermediate change</a:t>
            </a:r>
            <a:endParaRPr lang="en-US" sz="950" dirty="0"/>
          </a:p>
        </p:txBody>
      </p:sp>
      <p:sp>
        <p:nvSpPr>
          <p:cNvPr id="17" name="Shape 15"/>
          <p:cNvSpPr/>
          <p:nvPr/>
        </p:nvSpPr>
        <p:spPr>
          <a:xfrm>
            <a:off x="7123908" y="2434133"/>
            <a:ext cx="173736" cy="14630"/>
          </a:xfrm>
          <a:prstGeom prst="rect">
            <a:avLst/>
          </a:prstGeom>
          <a:solidFill>
            <a:srgbClr val="009EDB"/>
          </a:solidFill>
          <a:ln w="12700">
            <a:solidFill>
              <a:srgbClr val="333333"/>
            </a:solidFill>
            <a:prstDash val="solid"/>
          </a:ln>
        </p:spPr>
      </p:sp>
      <p:sp>
        <p:nvSpPr>
          <p:cNvPr id="18" name="Shape 16"/>
          <p:cNvSpPr/>
          <p:nvPr/>
        </p:nvSpPr>
        <p:spPr>
          <a:xfrm>
            <a:off x="7256496" y="2400300"/>
            <a:ext cx="82296" cy="82296"/>
          </a:xfrm>
          <a:prstGeom prst="ellipse">
            <a:avLst/>
          </a:prstGeom>
          <a:solidFill>
            <a:srgbClr val="009EDB"/>
          </a:solidFill>
          <a:ln w="12700">
            <a:solidFill>
              <a:srgbClr val="333333"/>
            </a:solidFill>
            <a:prstDash val="solid"/>
          </a:ln>
        </p:spPr>
      </p:sp>
      <p:sp>
        <p:nvSpPr>
          <p:cNvPr id="19" name="Shape 17"/>
          <p:cNvSpPr/>
          <p:nvPr/>
        </p:nvSpPr>
        <p:spPr>
          <a:xfrm>
            <a:off x="7347936" y="1847088"/>
            <a:ext cx="1955536" cy="1188720"/>
          </a:xfrm>
          <a:prstGeom prst="roundRect">
            <a:avLst>
              <a:gd name="adj" fmla="val 5385"/>
            </a:avLst>
          </a:prstGeom>
          <a:solidFill>
            <a:srgbClr val="FFFFFF"/>
          </a:solidFill>
          <a:ln w="12700">
            <a:solidFill>
              <a:srgbClr val="E3EAF2"/>
            </a:solidFill>
            <a:prstDash val="solid"/>
          </a:ln>
        </p:spPr>
      </p:sp>
      <p:sp>
        <p:nvSpPr>
          <p:cNvPr id="20" name="Text 18"/>
          <p:cNvSpPr txBox="1"/>
          <p:nvPr/>
        </p:nvSpPr>
        <p:spPr>
          <a:xfrm>
            <a:off x="7347936" y="2029968"/>
            <a:ext cx="1955536" cy="292608"/>
          </a:xfrm>
          <a:prstGeom prst="rect">
            <a:avLst/>
          </a:prstGeom>
          <a:noFill/>
          <a:ln/>
        </p:spPr>
        <p:txBody>
          <a:bodyPr wrap="square" lIns="0" tIns="0" rIns="0" bIns="0" rtlCol="0" anchor="ctr"/>
          <a:lstStyle/>
          <a:p>
            <a:pPr algn="ct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Output</a:t>
            </a:r>
            <a:endParaRPr lang="en-US" sz="1400" dirty="0"/>
          </a:p>
        </p:txBody>
      </p:sp>
      <p:sp>
        <p:nvSpPr>
          <p:cNvPr id="21" name="Text 19"/>
          <p:cNvSpPr txBox="1"/>
          <p:nvPr/>
        </p:nvSpPr>
        <p:spPr>
          <a:xfrm>
            <a:off x="7439376" y="2359152"/>
            <a:ext cx="1772656" cy="566928"/>
          </a:xfrm>
          <a:prstGeom prst="rect">
            <a:avLst/>
          </a:prstGeom>
          <a:noFill/>
          <a:ln/>
        </p:spPr>
        <p:txBody>
          <a:bodyPr wrap="square" lIns="0" tIns="0" rIns="0" bIns="0" rtlCol="0" anchor="ctr"/>
          <a:lstStyle/>
          <a:p>
            <a:pPr algn="ctr" indent="0" marL="0">
              <a:lnSpc>
                <a:spcPts val="1250"/>
              </a:lnSpc>
              <a:buNone/>
            </a:pPr>
            <a:r>
              <a:rPr lang="en-US" sz="950" dirty="0">
                <a:solidFill>
                  <a:srgbClr val="47586E"/>
                </a:solidFill>
                <a:latin typeface="Calibri" pitchFamily="34" charset="0"/>
                <a:ea typeface="Calibri" pitchFamily="34" charset="-122"/>
                <a:cs typeface="Calibri" pitchFamily="34" charset="-120"/>
              </a:rPr>
              <a:t>The deliverable, holding the indicators</a:t>
            </a:r>
            <a:endParaRPr lang="en-US" sz="950" dirty="0"/>
          </a:p>
        </p:txBody>
      </p:sp>
      <p:sp>
        <p:nvSpPr>
          <p:cNvPr id="22" name="Shape 20"/>
          <p:cNvSpPr/>
          <p:nvPr/>
        </p:nvSpPr>
        <p:spPr>
          <a:xfrm>
            <a:off x="9353763" y="2434133"/>
            <a:ext cx="173736" cy="14630"/>
          </a:xfrm>
          <a:prstGeom prst="rect">
            <a:avLst/>
          </a:prstGeom>
          <a:solidFill>
            <a:srgbClr val="009EDB"/>
          </a:solidFill>
          <a:ln w="12700">
            <a:solidFill>
              <a:srgbClr val="333333"/>
            </a:solidFill>
            <a:prstDash val="solid"/>
          </a:ln>
        </p:spPr>
      </p:sp>
      <p:sp>
        <p:nvSpPr>
          <p:cNvPr id="23" name="Shape 21"/>
          <p:cNvSpPr/>
          <p:nvPr/>
        </p:nvSpPr>
        <p:spPr>
          <a:xfrm>
            <a:off x="9486351" y="2400300"/>
            <a:ext cx="82296" cy="82296"/>
          </a:xfrm>
          <a:prstGeom prst="ellipse">
            <a:avLst/>
          </a:prstGeom>
          <a:solidFill>
            <a:srgbClr val="009EDB"/>
          </a:solidFill>
          <a:ln w="12700">
            <a:solidFill>
              <a:srgbClr val="333333"/>
            </a:solidFill>
            <a:prstDash val="solid"/>
          </a:ln>
        </p:spPr>
      </p:sp>
      <p:sp>
        <p:nvSpPr>
          <p:cNvPr id="24" name="Shape 22"/>
          <p:cNvSpPr/>
          <p:nvPr/>
        </p:nvSpPr>
        <p:spPr>
          <a:xfrm>
            <a:off x="9577791" y="1847088"/>
            <a:ext cx="1955536" cy="1188720"/>
          </a:xfrm>
          <a:prstGeom prst="roundRect">
            <a:avLst>
              <a:gd name="adj" fmla="val 5385"/>
            </a:avLst>
          </a:prstGeom>
          <a:solidFill>
            <a:srgbClr val="EAF6FD"/>
          </a:solidFill>
          <a:ln w="12700">
            <a:solidFill>
              <a:srgbClr val="E3EAF2"/>
            </a:solidFill>
            <a:prstDash val="solid"/>
          </a:ln>
        </p:spPr>
      </p:sp>
      <p:sp>
        <p:nvSpPr>
          <p:cNvPr id="25" name="Text 23"/>
          <p:cNvSpPr txBox="1"/>
          <p:nvPr/>
        </p:nvSpPr>
        <p:spPr>
          <a:xfrm>
            <a:off x="9577791" y="2029968"/>
            <a:ext cx="1955536" cy="292608"/>
          </a:xfrm>
          <a:prstGeom prst="rect">
            <a:avLst/>
          </a:prstGeom>
          <a:noFill/>
          <a:ln/>
        </p:spPr>
        <p:txBody>
          <a:bodyPr wrap="square" lIns="0" tIns="0" rIns="0" bIns="0" rtlCol="0" anchor="ctr"/>
          <a:lstStyle/>
          <a:p>
            <a:pPr algn="ct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Activity</a:t>
            </a:r>
            <a:endParaRPr lang="en-US" sz="1400" dirty="0"/>
          </a:p>
        </p:txBody>
      </p:sp>
      <p:sp>
        <p:nvSpPr>
          <p:cNvPr id="26" name="Text 24"/>
          <p:cNvSpPr txBox="1"/>
          <p:nvPr/>
        </p:nvSpPr>
        <p:spPr>
          <a:xfrm>
            <a:off x="9669231" y="2359152"/>
            <a:ext cx="1772656" cy="566928"/>
          </a:xfrm>
          <a:prstGeom prst="rect">
            <a:avLst/>
          </a:prstGeom>
          <a:noFill/>
          <a:ln/>
        </p:spPr>
        <p:txBody>
          <a:bodyPr wrap="square" lIns="0" tIns="0" rIns="0" bIns="0" rtlCol="0" anchor="ctr"/>
          <a:lstStyle/>
          <a:p>
            <a:pPr algn="ctr" indent="0" marL="0">
              <a:lnSpc>
                <a:spcPts val="1250"/>
              </a:lnSpc>
              <a:buNone/>
            </a:pPr>
            <a:r>
              <a:rPr lang="en-US" sz="950" dirty="0">
                <a:solidFill>
                  <a:srgbClr val="47586E"/>
                </a:solidFill>
                <a:latin typeface="Calibri" pitchFamily="34" charset="0"/>
                <a:ea typeface="Calibri" pitchFamily="34" charset="-122"/>
                <a:cs typeface="Calibri" pitchFamily="34" charset="-120"/>
              </a:rPr>
              <a:t>One measurement from the field</a:t>
            </a:r>
            <a:endParaRPr lang="en-US" sz="950" dirty="0"/>
          </a:p>
        </p:txBody>
      </p:sp>
      <p:sp>
        <p:nvSpPr>
          <p:cNvPr id="27" name="Text 25"/>
          <p:cNvSpPr txBox="1"/>
          <p:nvPr/>
        </p:nvSpPr>
        <p:spPr>
          <a:xfrm>
            <a:off x="658368" y="3401568"/>
            <a:ext cx="5272888" cy="310896"/>
          </a:xfrm>
          <a:prstGeom prst="rect">
            <a:avLst/>
          </a:prstGeom>
          <a:noFill/>
          <a:ln/>
        </p:spPr>
        <p:txBody>
          <a:bodyPr wrap="square" lIns="0" tIns="0" rIns="0" bIns="0" rtlCol="0" anchor="ctr"/>
          <a:lstStyle/>
          <a:p>
            <a:pP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Reported once, counted everywhere</a:t>
            </a:r>
            <a:endParaRPr lang="en-US" sz="1400" dirty="0"/>
          </a:p>
        </p:txBody>
      </p:sp>
      <p:sp>
        <p:nvSpPr>
          <p:cNvPr id="28" name="Text 26"/>
          <p:cNvSpPr txBox="1"/>
          <p:nvPr/>
        </p:nvSpPr>
        <p:spPr>
          <a:xfrm>
            <a:off x="658368" y="3785616"/>
            <a:ext cx="5272888" cy="1463040"/>
          </a:xfrm>
          <a:prstGeom prst="rect">
            <a:avLst/>
          </a:prstGeom>
          <a:noFill/>
          <a:ln/>
        </p:spPr>
        <p:txBody>
          <a:bodyPr wrap="square" lIns="0" tIns="0" rIns="0" bIns="0" rtlCol="0" anchor="ctr"/>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An officer records one activity. It reaches its indicator, output, outcome, impact and plan in the same operation. No figure is re-entered at a higher level, so aggregates cannot diverge.</a:t>
            </a:r>
            <a:endParaRPr lang="en-US" sz="1200" dirty="0"/>
          </a:p>
        </p:txBody>
      </p:sp>
      <p:sp>
        <p:nvSpPr>
          <p:cNvPr id="29" name="Text 27"/>
          <p:cNvSpPr txBox="1"/>
          <p:nvPr/>
        </p:nvSpPr>
        <p:spPr>
          <a:xfrm>
            <a:off x="6260440" y="3401568"/>
            <a:ext cx="5272888" cy="310896"/>
          </a:xfrm>
          <a:prstGeom prst="rect">
            <a:avLst/>
          </a:prstGeom>
          <a:noFill/>
          <a:ln/>
        </p:spPr>
        <p:txBody>
          <a:bodyPr wrap="square" lIns="0" tIns="0" rIns="0" bIns="0" rtlCol="0" anchor="ctr"/>
          <a:lstStyle/>
          <a:p>
            <a:pP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Results and funding on one record</a:t>
            </a:r>
            <a:endParaRPr lang="en-US" sz="1400" dirty="0"/>
          </a:p>
        </p:txBody>
      </p:sp>
      <p:sp>
        <p:nvSpPr>
          <p:cNvPr id="30" name="Text 28"/>
          <p:cNvSpPr txBox="1"/>
          <p:nvPr/>
        </p:nvSpPr>
        <p:spPr>
          <a:xfrm>
            <a:off x="6260440" y="3785616"/>
            <a:ext cx="5272888" cy="1463040"/>
          </a:xfrm>
          <a:prstGeom prst="rect">
            <a:avLst/>
          </a:prstGeom>
          <a:noFill/>
          <a:ln/>
        </p:spPr>
        <p:txBody>
          <a:bodyPr wrap="square" lIns="0" tIns="0" rIns="0" bIns="0" rtlCol="0" anchor="ctr"/>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The same activity carries its donor and its project. Achievement and attribution are read from a single row, rather than reconciled between systems at the close of the year.</a:t>
            </a:r>
            <a:endParaRPr lang="en-US" sz="1200" dirty="0"/>
          </a:p>
        </p:txBody>
      </p:sp>
      <p:sp>
        <p:nvSpPr>
          <p:cNvPr id="31" name="Text 29"/>
          <p:cNvSpPr txBox="1"/>
          <p:nvPr/>
        </p:nvSpPr>
        <p:spPr>
          <a:xfrm>
            <a:off x="658368" y="5486400"/>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Any figure on any screen opens to the report behind it, the location it came from and the officer who recorded it.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DERIVATION</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Performance follows from four values and is never entered by hand.</a:t>
            </a:r>
            <a:endParaRPr lang="en-US" sz="2500" dirty="0"/>
          </a:p>
        </p:txBody>
      </p:sp>
      <p:sp>
        <p:nvSpPr>
          <p:cNvPr id="4" name="Shape 2"/>
          <p:cNvSpPr/>
          <p:nvPr/>
        </p:nvSpPr>
        <p:spPr>
          <a:xfrm>
            <a:off x="658368" y="1847088"/>
            <a:ext cx="5272888" cy="2286000"/>
          </a:xfrm>
          <a:prstGeom prst="roundRect">
            <a:avLst>
              <a:gd name="adj" fmla="val 2800"/>
            </a:avLst>
          </a:prstGeom>
          <a:solidFill>
            <a:srgbClr val="F7FAFC"/>
          </a:solidFill>
          <a:ln w="12700">
            <a:solidFill>
              <a:srgbClr val="E3EAF2"/>
            </a:solidFill>
            <a:prstDash val="solid"/>
          </a:ln>
        </p:spPr>
      </p:sp>
      <p:sp>
        <p:nvSpPr>
          <p:cNvPr id="5" name="Text 3"/>
          <p:cNvSpPr txBox="1"/>
          <p:nvPr/>
        </p:nvSpPr>
        <p:spPr>
          <a:xfrm>
            <a:off x="932688" y="2084832"/>
            <a:ext cx="4724248" cy="237744"/>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PROGRESS</a:t>
            </a:r>
            <a:endParaRPr lang="en-US" sz="950" dirty="0"/>
          </a:p>
        </p:txBody>
      </p:sp>
      <p:sp>
        <p:nvSpPr>
          <p:cNvPr id="6" name="Text 4"/>
          <p:cNvSpPr txBox="1"/>
          <p:nvPr/>
        </p:nvSpPr>
        <p:spPr>
          <a:xfrm>
            <a:off x="932688" y="2377440"/>
            <a:ext cx="4724248" cy="566928"/>
          </a:xfrm>
          <a:prstGeom prst="rect">
            <a:avLst/>
          </a:prstGeom>
          <a:noFill/>
          <a:ln/>
        </p:spPr>
        <p:txBody>
          <a:bodyPr wrap="square" lIns="0" tIns="0" rIns="0" bIns="0" rtlCol="0" anchor="ctr"/>
          <a:lstStyle/>
          <a:p>
            <a:pPr indent="0" marL="0">
              <a:lnSpc>
                <a:spcPts val="2000"/>
              </a:lnSpc>
              <a:buNone/>
            </a:pPr>
            <a:r>
              <a:rPr lang="en-US" sz="1350" b="1" dirty="0">
                <a:solidFill>
                  <a:srgbClr val="13293F"/>
                </a:solidFill>
                <a:latin typeface="Century Schoolbook" pitchFamily="34" charset="0"/>
                <a:ea typeface="Century Schoolbook" pitchFamily="34" charset="-122"/>
                <a:cs typeface="Century Schoolbook" pitchFamily="34" charset="-120"/>
              </a:rPr>
              <a:t>( current  -  baseline )  ÷  ( target  -  baseline )</a:t>
            </a:r>
            <a:endParaRPr lang="en-US" sz="1350" dirty="0"/>
          </a:p>
        </p:txBody>
      </p:sp>
      <p:sp>
        <p:nvSpPr>
          <p:cNvPr id="7" name="Text 5"/>
          <p:cNvSpPr txBox="1"/>
          <p:nvPr/>
        </p:nvSpPr>
        <p:spPr>
          <a:xfrm>
            <a:off x="932688" y="3035808"/>
            <a:ext cx="4724248" cy="950976"/>
          </a:xfrm>
          <a:prstGeom prst="rect">
            <a:avLst/>
          </a:prstGeom>
          <a:noFill/>
          <a:ln/>
        </p:spPr>
        <p:txBody>
          <a:bodyPr wrap="square" lIns="0" tIns="0" rIns="0" bIns="0" rtlCol="0" anchor="ctr"/>
          <a:lstStyle/>
          <a:p>
            <a:pPr indent="0" marL="0">
              <a:lnSpc>
                <a:spcPts val="1700"/>
              </a:lnSpc>
              <a:buNone/>
            </a:pPr>
            <a:r>
              <a:rPr lang="en-US" sz="1150" dirty="0">
                <a:solidFill>
                  <a:srgbClr val="47586E"/>
                </a:solidFill>
                <a:latin typeface="Calibri" pitchFamily="34" charset="0"/>
                <a:ea typeface="Calibri" pitchFamily="34" charset="-122"/>
                <a:cs typeface="Calibri" pitchFamily="34" charset="-120"/>
              </a:rPr>
              <a:t>The share of the intended gap that has been closed, irrespective of time elapsed.</a:t>
            </a:r>
            <a:endParaRPr lang="en-US" sz="1150" dirty="0"/>
          </a:p>
        </p:txBody>
      </p:sp>
      <p:sp>
        <p:nvSpPr>
          <p:cNvPr id="8" name="Shape 6"/>
          <p:cNvSpPr/>
          <p:nvPr/>
        </p:nvSpPr>
        <p:spPr>
          <a:xfrm>
            <a:off x="6260440" y="1847088"/>
            <a:ext cx="5272888" cy="2286000"/>
          </a:xfrm>
          <a:prstGeom prst="roundRect">
            <a:avLst>
              <a:gd name="adj" fmla="val 2800"/>
            </a:avLst>
          </a:prstGeom>
          <a:solidFill>
            <a:srgbClr val="EAF6FD"/>
          </a:solidFill>
          <a:ln w="12700">
            <a:solidFill>
              <a:srgbClr val="333333"/>
            </a:solidFill>
            <a:prstDash val="solid"/>
          </a:ln>
        </p:spPr>
      </p:sp>
      <p:sp>
        <p:nvSpPr>
          <p:cNvPr id="9" name="Text 7"/>
          <p:cNvSpPr txBox="1"/>
          <p:nvPr/>
        </p:nvSpPr>
        <p:spPr>
          <a:xfrm>
            <a:off x="6534760" y="2084832"/>
            <a:ext cx="4724248" cy="237744"/>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PERFORMANCE</a:t>
            </a:r>
            <a:endParaRPr lang="en-US" sz="950" dirty="0"/>
          </a:p>
        </p:txBody>
      </p:sp>
      <p:sp>
        <p:nvSpPr>
          <p:cNvPr id="10" name="Text 8"/>
          <p:cNvSpPr txBox="1"/>
          <p:nvPr/>
        </p:nvSpPr>
        <p:spPr>
          <a:xfrm>
            <a:off x="6534760" y="2377440"/>
            <a:ext cx="4724248" cy="566928"/>
          </a:xfrm>
          <a:prstGeom prst="rect">
            <a:avLst/>
          </a:prstGeom>
          <a:noFill/>
          <a:ln/>
        </p:spPr>
        <p:txBody>
          <a:bodyPr wrap="square" lIns="0" tIns="0" rIns="0" bIns="0" rtlCol="0" anchor="ctr"/>
          <a:lstStyle/>
          <a:p>
            <a:pPr indent="0" marL="0">
              <a:lnSpc>
                <a:spcPts val="2000"/>
              </a:lnSpc>
              <a:buNone/>
            </a:pPr>
            <a:r>
              <a:rPr lang="en-US" sz="1350" b="1" dirty="0">
                <a:solidFill>
                  <a:srgbClr val="13293F"/>
                </a:solidFill>
                <a:latin typeface="Century Schoolbook" pitchFamily="34" charset="0"/>
                <a:ea typeface="Century Schoolbook" pitchFamily="34" charset="-122"/>
                <a:cs typeface="Century Schoolbook" pitchFamily="34" charset="-120"/>
              </a:rPr>
              <a:t>progress  ÷  elapsed share of the indicator window</a:t>
            </a:r>
            <a:endParaRPr lang="en-US" sz="1350" dirty="0"/>
          </a:p>
        </p:txBody>
      </p:sp>
      <p:sp>
        <p:nvSpPr>
          <p:cNvPr id="11" name="Text 9"/>
          <p:cNvSpPr txBox="1"/>
          <p:nvPr/>
        </p:nvSpPr>
        <p:spPr>
          <a:xfrm>
            <a:off x="6534760" y="3035808"/>
            <a:ext cx="4724248" cy="950976"/>
          </a:xfrm>
          <a:prstGeom prst="rect">
            <a:avLst/>
          </a:prstGeom>
          <a:noFill/>
          <a:ln/>
        </p:spPr>
        <p:txBody>
          <a:bodyPr wrap="square" lIns="0" tIns="0" rIns="0" bIns="0" rtlCol="0" anchor="ctr"/>
          <a:lstStyle/>
          <a:p>
            <a:pPr indent="0" marL="0">
              <a:lnSpc>
                <a:spcPts val="1700"/>
              </a:lnSpc>
              <a:buNone/>
            </a:pPr>
            <a:r>
              <a:rPr lang="en-US" sz="1150" dirty="0">
                <a:solidFill>
                  <a:srgbClr val="47586E"/>
                </a:solidFill>
                <a:latin typeface="Calibri" pitchFamily="34" charset="0"/>
                <a:ea typeface="Calibri" pitchFamily="34" charset="-122"/>
                <a:cs typeface="Calibri" pitchFamily="34" charset="-120"/>
              </a:rPr>
              <a:t>Whether that share is being closed quickly enough. This determines the rating, and it is the measure the platform treats as authoritative.</a:t>
            </a:r>
            <a:endParaRPr lang="en-US" sz="1150" dirty="0"/>
          </a:p>
        </p:txBody>
      </p:sp>
      <p:sp>
        <p:nvSpPr>
          <p:cNvPr id="12" name="Shape 10"/>
          <p:cNvSpPr/>
          <p:nvPr/>
        </p:nvSpPr>
        <p:spPr>
          <a:xfrm>
            <a:off x="658368" y="4443984"/>
            <a:ext cx="10874959" cy="896112"/>
          </a:xfrm>
          <a:prstGeom prst="roundRect">
            <a:avLst>
              <a:gd name="adj" fmla="val 6122"/>
            </a:avLst>
          </a:prstGeom>
          <a:solidFill>
            <a:srgbClr val="EAF6FD"/>
          </a:solidFill>
          <a:ln w="12700">
            <a:solidFill>
              <a:srgbClr val="333333"/>
            </a:solidFill>
            <a:prstDash val="solid"/>
          </a:ln>
        </p:spPr>
      </p:sp>
      <p:sp>
        <p:nvSpPr>
          <p:cNvPr id="13" name="Text 11"/>
          <p:cNvSpPr txBox="1"/>
          <p:nvPr/>
        </p:nvSpPr>
        <p:spPr>
          <a:xfrm>
            <a:off x="969264" y="4590288"/>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Where a lower value is the improvement, such as dropout or waiting time, the same calculation is applied in the opposite direction. The direction is a property of the indicator.</a:t>
            </a:r>
            <a:endParaRPr lang="en-US" sz="1250" dirty="0"/>
          </a:p>
        </p:txBody>
      </p:sp>
      <p:sp>
        <p:nvSpPr>
          <p:cNvPr id="14" name="Text 12"/>
          <p:cNvSpPr txBox="1"/>
          <p:nvPr/>
        </p:nvSpPr>
        <p:spPr>
          <a:xfrm>
            <a:off x="658368" y="5614416"/>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Because both ratios are derived, any rating can be recomputed from the record and audited by a third party.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THE RATING SCALE</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Five ratings place every indicator against its own timeframe.</a:t>
            </a:r>
            <a:endParaRPr lang="en-US" sz="2500" dirty="0"/>
          </a:p>
        </p:txBody>
      </p:sp>
      <p:sp>
        <p:nvSpPr>
          <p:cNvPr id="4" name="Shape 2"/>
          <p:cNvSpPr/>
          <p:nvPr/>
        </p:nvSpPr>
        <p:spPr>
          <a:xfrm>
            <a:off x="658368" y="1901952"/>
            <a:ext cx="10874959" cy="658368"/>
          </a:xfrm>
          <a:prstGeom prst="roundRect">
            <a:avLst>
              <a:gd name="adj" fmla="val 6944"/>
            </a:avLst>
          </a:prstGeom>
          <a:solidFill>
            <a:srgbClr val="F7FAFC"/>
          </a:solidFill>
          <a:ln w="12700">
            <a:solidFill>
              <a:srgbClr val="E3EAF2"/>
            </a:solidFill>
            <a:prstDash val="solid"/>
          </a:ln>
        </p:spPr>
      </p:sp>
      <p:sp>
        <p:nvSpPr>
          <p:cNvPr id="5" name="Shape 3"/>
          <p:cNvSpPr/>
          <p:nvPr/>
        </p:nvSpPr>
        <p:spPr>
          <a:xfrm>
            <a:off x="896112" y="2125980"/>
            <a:ext cx="210312" cy="210312"/>
          </a:xfrm>
          <a:prstGeom prst="roundRect">
            <a:avLst>
              <a:gd name="adj" fmla="val 17391"/>
            </a:avLst>
          </a:prstGeom>
          <a:solidFill>
            <a:srgbClr val="2563EB"/>
          </a:solidFill>
          <a:ln w="12700">
            <a:solidFill>
              <a:srgbClr val="333333"/>
            </a:solidFill>
            <a:prstDash val="solid"/>
          </a:ln>
        </p:spPr>
      </p:sp>
      <p:sp>
        <p:nvSpPr>
          <p:cNvPr id="6" name="Text 4"/>
          <p:cNvSpPr txBox="1"/>
          <p:nvPr/>
        </p:nvSpPr>
        <p:spPr>
          <a:xfrm>
            <a:off x="1298448" y="2084832"/>
            <a:ext cx="1691640" cy="292608"/>
          </a:xfrm>
          <a:prstGeom prst="rect">
            <a:avLst/>
          </a:prstGeom>
          <a:noFill/>
          <a:ln/>
        </p:spPr>
        <p:txBody>
          <a:bodyPr wrap="square" lIns="0" tIns="0" rIns="0" bIns="0" rtlCol="0" anchor="ctr"/>
          <a:lstStyle/>
          <a:p>
            <a:pPr indent="0" marL="0">
              <a:buNone/>
            </a:pPr>
            <a:r>
              <a:rPr lang="en-US" sz="1250" b="1" dirty="0">
                <a:solidFill>
                  <a:srgbClr val="13293F"/>
                </a:solidFill>
                <a:latin typeface="Calibri" pitchFamily="34" charset="0"/>
                <a:ea typeface="Calibri" pitchFamily="34" charset="-122"/>
                <a:cs typeface="Calibri" pitchFamily="34" charset="-120"/>
              </a:rPr>
              <a:t>Over Track</a:t>
            </a:r>
            <a:endParaRPr lang="en-US" sz="1250" dirty="0"/>
          </a:p>
        </p:txBody>
      </p:sp>
      <p:sp>
        <p:nvSpPr>
          <p:cNvPr id="7" name="Text 5"/>
          <p:cNvSpPr txBox="1"/>
          <p:nvPr/>
        </p:nvSpPr>
        <p:spPr>
          <a:xfrm>
            <a:off x="3054096" y="2075688"/>
            <a:ext cx="8223199" cy="310896"/>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Ahead of the pace the target requires over the remaining period.</a:t>
            </a:r>
            <a:endParaRPr lang="en-US" sz="1200" dirty="0"/>
          </a:p>
        </p:txBody>
      </p:sp>
      <p:sp>
        <p:nvSpPr>
          <p:cNvPr id="8" name="Shape 6"/>
          <p:cNvSpPr/>
          <p:nvPr/>
        </p:nvSpPr>
        <p:spPr>
          <a:xfrm>
            <a:off x="658368" y="2651760"/>
            <a:ext cx="10874959" cy="658368"/>
          </a:xfrm>
          <a:prstGeom prst="roundRect">
            <a:avLst>
              <a:gd name="adj" fmla="val 6944"/>
            </a:avLst>
          </a:prstGeom>
          <a:solidFill>
            <a:srgbClr val="F7FAFC"/>
          </a:solidFill>
          <a:ln w="12700">
            <a:solidFill>
              <a:srgbClr val="E3EAF2"/>
            </a:solidFill>
            <a:prstDash val="solid"/>
          </a:ln>
        </p:spPr>
      </p:sp>
      <p:sp>
        <p:nvSpPr>
          <p:cNvPr id="9" name="Shape 7"/>
          <p:cNvSpPr/>
          <p:nvPr/>
        </p:nvSpPr>
        <p:spPr>
          <a:xfrm>
            <a:off x="896112" y="2875788"/>
            <a:ext cx="210312" cy="210312"/>
          </a:xfrm>
          <a:prstGeom prst="roundRect">
            <a:avLst>
              <a:gd name="adj" fmla="val 17391"/>
            </a:avLst>
          </a:prstGeom>
          <a:solidFill>
            <a:srgbClr val="16A34A"/>
          </a:solidFill>
          <a:ln w="12700">
            <a:solidFill>
              <a:srgbClr val="333333"/>
            </a:solidFill>
            <a:prstDash val="solid"/>
          </a:ln>
        </p:spPr>
      </p:sp>
      <p:sp>
        <p:nvSpPr>
          <p:cNvPr id="10" name="Text 8"/>
          <p:cNvSpPr txBox="1"/>
          <p:nvPr/>
        </p:nvSpPr>
        <p:spPr>
          <a:xfrm>
            <a:off x="1298448" y="2834640"/>
            <a:ext cx="1691640" cy="292608"/>
          </a:xfrm>
          <a:prstGeom prst="rect">
            <a:avLst/>
          </a:prstGeom>
          <a:noFill/>
          <a:ln/>
        </p:spPr>
        <p:txBody>
          <a:bodyPr wrap="square" lIns="0" tIns="0" rIns="0" bIns="0" rtlCol="0" anchor="ctr"/>
          <a:lstStyle/>
          <a:p>
            <a:pPr indent="0" marL="0">
              <a:buNone/>
            </a:pPr>
            <a:r>
              <a:rPr lang="en-US" sz="1250" b="1" dirty="0">
                <a:solidFill>
                  <a:srgbClr val="13293F"/>
                </a:solidFill>
                <a:latin typeface="Calibri" pitchFamily="34" charset="0"/>
                <a:ea typeface="Calibri" pitchFamily="34" charset="-122"/>
                <a:cs typeface="Calibri" pitchFamily="34" charset="-120"/>
              </a:rPr>
              <a:t>On Track</a:t>
            </a:r>
            <a:endParaRPr lang="en-US" sz="1250" dirty="0"/>
          </a:p>
        </p:txBody>
      </p:sp>
      <p:sp>
        <p:nvSpPr>
          <p:cNvPr id="11" name="Text 9"/>
          <p:cNvSpPr txBox="1"/>
          <p:nvPr/>
        </p:nvSpPr>
        <p:spPr>
          <a:xfrm>
            <a:off x="3054096" y="2825496"/>
            <a:ext cx="8223199" cy="310896"/>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Moving at the pace the target requires.</a:t>
            </a:r>
            <a:endParaRPr lang="en-US" sz="1200" dirty="0"/>
          </a:p>
        </p:txBody>
      </p:sp>
      <p:sp>
        <p:nvSpPr>
          <p:cNvPr id="12" name="Shape 10"/>
          <p:cNvSpPr/>
          <p:nvPr/>
        </p:nvSpPr>
        <p:spPr>
          <a:xfrm>
            <a:off x="658368" y="3401568"/>
            <a:ext cx="10874959" cy="658368"/>
          </a:xfrm>
          <a:prstGeom prst="roundRect">
            <a:avLst>
              <a:gd name="adj" fmla="val 6944"/>
            </a:avLst>
          </a:prstGeom>
          <a:solidFill>
            <a:srgbClr val="F7FAFC"/>
          </a:solidFill>
          <a:ln w="12700">
            <a:solidFill>
              <a:srgbClr val="E3EAF2"/>
            </a:solidFill>
            <a:prstDash val="solid"/>
          </a:ln>
        </p:spPr>
      </p:sp>
      <p:sp>
        <p:nvSpPr>
          <p:cNvPr id="13" name="Shape 11"/>
          <p:cNvSpPr/>
          <p:nvPr/>
        </p:nvSpPr>
        <p:spPr>
          <a:xfrm>
            <a:off x="896112" y="3625596"/>
            <a:ext cx="210312" cy="210312"/>
          </a:xfrm>
          <a:prstGeom prst="roundRect">
            <a:avLst>
              <a:gd name="adj" fmla="val 17391"/>
            </a:avLst>
          </a:prstGeom>
          <a:solidFill>
            <a:srgbClr val="F59E0B"/>
          </a:solidFill>
          <a:ln w="12700">
            <a:solidFill>
              <a:srgbClr val="333333"/>
            </a:solidFill>
            <a:prstDash val="solid"/>
          </a:ln>
        </p:spPr>
      </p:sp>
      <p:sp>
        <p:nvSpPr>
          <p:cNvPr id="14" name="Text 12"/>
          <p:cNvSpPr txBox="1"/>
          <p:nvPr/>
        </p:nvSpPr>
        <p:spPr>
          <a:xfrm>
            <a:off x="1298448" y="3584448"/>
            <a:ext cx="1691640" cy="292608"/>
          </a:xfrm>
          <a:prstGeom prst="rect">
            <a:avLst/>
          </a:prstGeom>
          <a:noFill/>
          <a:ln/>
        </p:spPr>
        <p:txBody>
          <a:bodyPr wrap="square" lIns="0" tIns="0" rIns="0" bIns="0" rtlCol="0" anchor="ctr"/>
          <a:lstStyle/>
          <a:p>
            <a:pPr indent="0" marL="0">
              <a:buNone/>
            </a:pPr>
            <a:r>
              <a:rPr lang="en-US" sz="1250" b="1" dirty="0">
                <a:solidFill>
                  <a:srgbClr val="13293F"/>
                </a:solidFill>
                <a:latin typeface="Calibri" pitchFamily="34" charset="0"/>
                <a:ea typeface="Calibri" pitchFamily="34" charset="-122"/>
                <a:cs typeface="Calibri" pitchFamily="34" charset="-120"/>
              </a:rPr>
              <a:t>At Risk</a:t>
            </a:r>
            <a:endParaRPr lang="en-US" sz="1250" dirty="0"/>
          </a:p>
        </p:txBody>
      </p:sp>
      <p:sp>
        <p:nvSpPr>
          <p:cNvPr id="15" name="Text 13"/>
          <p:cNvSpPr txBox="1"/>
          <p:nvPr/>
        </p:nvSpPr>
        <p:spPr>
          <a:xfrm>
            <a:off x="3054096" y="3575304"/>
            <a:ext cx="8223199" cy="310896"/>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Below that pace, and recoverable within the time remaining.</a:t>
            </a:r>
            <a:endParaRPr lang="en-US" sz="1200" dirty="0"/>
          </a:p>
        </p:txBody>
      </p:sp>
      <p:sp>
        <p:nvSpPr>
          <p:cNvPr id="16" name="Shape 14"/>
          <p:cNvSpPr/>
          <p:nvPr/>
        </p:nvSpPr>
        <p:spPr>
          <a:xfrm>
            <a:off x="658368" y="4151376"/>
            <a:ext cx="10874959" cy="658368"/>
          </a:xfrm>
          <a:prstGeom prst="roundRect">
            <a:avLst>
              <a:gd name="adj" fmla="val 6944"/>
            </a:avLst>
          </a:prstGeom>
          <a:solidFill>
            <a:srgbClr val="F7FAFC"/>
          </a:solidFill>
          <a:ln w="12700">
            <a:solidFill>
              <a:srgbClr val="E3EAF2"/>
            </a:solidFill>
            <a:prstDash val="solid"/>
          </a:ln>
        </p:spPr>
      </p:sp>
      <p:sp>
        <p:nvSpPr>
          <p:cNvPr id="17" name="Shape 15"/>
          <p:cNvSpPr/>
          <p:nvPr/>
        </p:nvSpPr>
        <p:spPr>
          <a:xfrm>
            <a:off x="896112" y="4375404"/>
            <a:ext cx="210312" cy="210312"/>
          </a:xfrm>
          <a:prstGeom prst="roundRect">
            <a:avLst>
              <a:gd name="adj" fmla="val 17391"/>
            </a:avLst>
          </a:prstGeom>
          <a:solidFill>
            <a:srgbClr val="EF4444"/>
          </a:solidFill>
          <a:ln w="12700">
            <a:solidFill>
              <a:srgbClr val="333333"/>
            </a:solidFill>
            <a:prstDash val="solid"/>
          </a:ln>
        </p:spPr>
      </p:sp>
      <p:sp>
        <p:nvSpPr>
          <p:cNvPr id="18" name="Text 16"/>
          <p:cNvSpPr txBox="1"/>
          <p:nvPr/>
        </p:nvSpPr>
        <p:spPr>
          <a:xfrm>
            <a:off x="1298448" y="4334256"/>
            <a:ext cx="1691640" cy="292608"/>
          </a:xfrm>
          <a:prstGeom prst="rect">
            <a:avLst/>
          </a:prstGeom>
          <a:noFill/>
          <a:ln/>
        </p:spPr>
        <p:txBody>
          <a:bodyPr wrap="square" lIns="0" tIns="0" rIns="0" bIns="0" rtlCol="0" anchor="ctr"/>
          <a:lstStyle/>
          <a:p>
            <a:pPr indent="0" marL="0">
              <a:buNone/>
            </a:pPr>
            <a:r>
              <a:rPr lang="en-US" sz="1250" b="1" dirty="0">
                <a:solidFill>
                  <a:srgbClr val="13293F"/>
                </a:solidFill>
                <a:latin typeface="Calibri" pitchFamily="34" charset="0"/>
                <a:ea typeface="Calibri" pitchFamily="34" charset="-122"/>
                <a:cs typeface="Calibri" pitchFamily="34" charset="-120"/>
              </a:rPr>
              <a:t>Off Track</a:t>
            </a:r>
            <a:endParaRPr lang="en-US" sz="1250" dirty="0"/>
          </a:p>
        </p:txBody>
      </p:sp>
      <p:sp>
        <p:nvSpPr>
          <p:cNvPr id="19" name="Text 17"/>
          <p:cNvSpPr txBox="1"/>
          <p:nvPr/>
        </p:nvSpPr>
        <p:spPr>
          <a:xfrm>
            <a:off x="3054096" y="4325112"/>
            <a:ext cx="8223199" cy="310896"/>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Materially below that pace. The target is unlikely to be met without intervention.</a:t>
            </a:r>
            <a:endParaRPr lang="en-US" sz="1200" dirty="0"/>
          </a:p>
        </p:txBody>
      </p:sp>
      <p:sp>
        <p:nvSpPr>
          <p:cNvPr id="20" name="Shape 18"/>
          <p:cNvSpPr/>
          <p:nvPr/>
        </p:nvSpPr>
        <p:spPr>
          <a:xfrm>
            <a:off x="658368" y="4901184"/>
            <a:ext cx="10874959" cy="658368"/>
          </a:xfrm>
          <a:prstGeom prst="roundRect">
            <a:avLst>
              <a:gd name="adj" fmla="val 6944"/>
            </a:avLst>
          </a:prstGeom>
          <a:solidFill>
            <a:srgbClr val="F7FAFC"/>
          </a:solidFill>
          <a:ln w="12700">
            <a:solidFill>
              <a:srgbClr val="E3EAF2"/>
            </a:solidFill>
            <a:prstDash val="solid"/>
          </a:ln>
        </p:spPr>
      </p:sp>
      <p:sp>
        <p:nvSpPr>
          <p:cNvPr id="21" name="Shape 19"/>
          <p:cNvSpPr/>
          <p:nvPr/>
        </p:nvSpPr>
        <p:spPr>
          <a:xfrm>
            <a:off x="896112" y="5125212"/>
            <a:ext cx="210312" cy="210312"/>
          </a:xfrm>
          <a:prstGeom prst="roundRect">
            <a:avLst>
              <a:gd name="adj" fmla="val 17391"/>
            </a:avLst>
          </a:prstGeom>
          <a:solidFill>
            <a:srgbClr val="9F1239"/>
          </a:solidFill>
          <a:ln w="12700">
            <a:solidFill>
              <a:srgbClr val="333333"/>
            </a:solidFill>
            <a:prstDash val="solid"/>
          </a:ln>
        </p:spPr>
      </p:sp>
      <p:sp>
        <p:nvSpPr>
          <p:cNvPr id="22" name="Text 20"/>
          <p:cNvSpPr txBox="1"/>
          <p:nvPr/>
        </p:nvSpPr>
        <p:spPr>
          <a:xfrm>
            <a:off x="1298448" y="5084064"/>
            <a:ext cx="1691640" cy="292608"/>
          </a:xfrm>
          <a:prstGeom prst="rect">
            <a:avLst/>
          </a:prstGeom>
          <a:noFill/>
          <a:ln/>
        </p:spPr>
        <p:txBody>
          <a:bodyPr wrap="square" lIns="0" tIns="0" rIns="0" bIns="0" rtlCol="0" anchor="ctr"/>
          <a:lstStyle/>
          <a:p>
            <a:pPr indent="0" marL="0">
              <a:buNone/>
            </a:pPr>
            <a:r>
              <a:rPr lang="en-US" sz="1250" b="1" dirty="0">
                <a:solidFill>
                  <a:srgbClr val="13293F"/>
                </a:solidFill>
                <a:latin typeface="Calibri" pitchFamily="34" charset="0"/>
                <a:ea typeface="Calibri" pitchFamily="34" charset="-122"/>
                <a:cs typeface="Calibri" pitchFamily="34" charset="-120"/>
              </a:rPr>
              <a:t>Under Track</a:t>
            </a:r>
            <a:endParaRPr lang="en-US" sz="1250" dirty="0"/>
          </a:p>
        </p:txBody>
      </p:sp>
      <p:sp>
        <p:nvSpPr>
          <p:cNvPr id="23" name="Text 21"/>
          <p:cNvSpPr txBox="1"/>
          <p:nvPr/>
        </p:nvSpPr>
        <p:spPr>
          <a:xfrm>
            <a:off x="3054096" y="5074920"/>
            <a:ext cx="8223199" cy="310896"/>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No measurement has been recorded, so no progress can be evidenced.</a:t>
            </a:r>
            <a:endParaRPr lang="en-US" sz="1200" dirty="0"/>
          </a:p>
        </p:txBody>
      </p:sp>
      <p:sp>
        <p:nvSpPr>
          <p:cNvPr id="24" name="Text 22"/>
          <p:cNvSpPr txBox="1"/>
          <p:nvPr/>
        </p:nvSpPr>
        <p:spPr>
          <a:xfrm>
            <a:off x="658368" y="5669280"/>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An indicator with no measurement is rated as zero progress and remains in every average, so absent reporting appears as a finding in its own right rather than being excluded from the denominator. The same five ratings apply at every level of the results chain.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FORECASTING</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Each indicator is projected forward from its own reporting history.</a:t>
            </a:r>
            <a:endParaRPr lang="en-US" sz="2500" dirty="0"/>
          </a:p>
        </p:txBody>
      </p:sp>
      <p:graphicFrame>
        <p:nvGraphicFramePr>
          <p:cNvPr id="4" name="Chart 0" descr=""/>
          <p:cNvGraphicFramePr/>
          <p:nvPr/>
        </p:nvGraphicFramePr>
        <p:xfrm>
          <a:off x="548640" y="1792224"/>
          <a:ext cx="6524976" cy="3803904"/>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00843" y="1901952"/>
            <a:ext cx="4132484" cy="310896"/>
          </a:xfrm>
          <a:prstGeom prst="rect">
            <a:avLst/>
          </a:prstGeom>
          <a:noFill/>
          <a:ln/>
        </p:spPr>
        <p:txBody>
          <a:bodyPr wrap="square" lIns="0" tIns="0" rIns="0" bIns="0" rtlCol="0" anchor="ctr"/>
          <a:lstStyle/>
          <a:p>
            <a:pP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Three scenarios, one method</a:t>
            </a:r>
            <a:endParaRPr lang="en-US" sz="1400" dirty="0"/>
          </a:p>
        </p:txBody>
      </p:sp>
      <p:sp>
        <p:nvSpPr>
          <p:cNvPr id="6" name="Text 3"/>
          <p:cNvSpPr txBox="1"/>
          <p:nvPr/>
        </p:nvSpPr>
        <p:spPr>
          <a:xfrm>
            <a:off x="7400843" y="2322576"/>
            <a:ext cx="4132484" cy="3291840"/>
          </a:xfrm>
          <a:prstGeom prst="rect">
            <a:avLst/>
          </a:prstGeom>
          <a:noFill/>
          <a:ln/>
        </p:spPr>
        <p:txBody>
          <a:bodyPr wrap="square" lIns="0" tIns="0" rIns="0" bIns="0" rtlCol="0" anchor="t"/>
          <a:lstStyle/>
          <a:p>
            <a:pPr marL="342900" indent="-342900">
              <a:lnSpc>
                <a:spcPts val="1783"/>
              </a:lnSpc>
              <a:spcAft>
                <a:spcPts val="800"/>
              </a:spcAft>
              <a:buSzPct val="100000"/>
              <a:buChar char="•"/>
            </a:pPr>
            <a:r>
              <a:rPr lang="en-US" sz="1150" dirty="0">
                <a:solidFill>
                  <a:srgbClr val="47586E"/>
                </a:solidFill>
                <a:latin typeface="Calibri" pitchFamily="34" charset="0"/>
                <a:ea typeface="Calibri" pitchFamily="34" charset="-122"/>
                <a:cs typeface="Calibri" pitchFamily="34" charset="-120"/>
              </a:rPr>
              <a:t>The realistic case extends the indicator’s recent monthly pace to its target date.</a:t>
            </a:r>
            <a:endParaRPr lang="en-US" sz="1150" dirty="0"/>
          </a:p>
          <a:p>
            <a:pPr marL="342900" indent="-342900">
              <a:lnSpc>
                <a:spcPts val="1783"/>
              </a:lnSpc>
              <a:spcAft>
                <a:spcPts val="800"/>
              </a:spcAft>
              <a:buSzPct val="100000"/>
              <a:buChar char="•"/>
            </a:pPr>
            <a:r>
              <a:rPr lang="en-US" sz="1150" dirty="0">
                <a:solidFill>
                  <a:srgbClr val="47586E"/>
                </a:solidFill>
                <a:latin typeface="Calibri" pitchFamily="34" charset="0"/>
                <a:ea typeface="Calibri" pitchFamily="34" charset="-122"/>
                <a:cs typeface="Calibri" pitchFamily="34" charset="-120"/>
              </a:rPr>
              <a:t>The best and worst cases apply one standard deviation of that pace in each direction.</a:t>
            </a:r>
            <a:endParaRPr lang="en-US" sz="1150" dirty="0"/>
          </a:p>
          <a:p>
            <a:pPr marL="342900" indent="-342900">
              <a:lnSpc>
                <a:spcPts val="1783"/>
              </a:lnSpc>
              <a:spcAft>
                <a:spcPts val="800"/>
              </a:spcAft>
              <a:buSzPct val="100000"/>
              <a:buChar char="•"/>
            </a:pPr>
            <a:r>
              <a:rPr lang="en-US" sz="1150" dirty="0">
                <a:solidFill>
                  <a:srgbClr val="47586E"/>
                </a:solidFill>
                <a:latin typeface="Calibri" pitchFamily="34" charset="0"/>
                <a:ea typeface="Calibri" pitchFamily="34" charset="-122"/>
                <a:cs typeface="Calibri" pitchFamily="34" charset="-120"/>
              </a:rPr>
              <a:t>The platform states the acceleration required to reach the target, and ranks results by risk.</a:t>
            </a:r>
            <a:endParaRPr lang="en-US" sz="1150" dirty="0"/>
          </a:p>
          <a:p>
            <a:pPr marL="342900" indent="-342900">
              <a:lnSpc>
                <a:spcPts val="1783"/>
              </a:lnSpc>
              <a:spcAft>
                <a:spcPts val="800"/>
              </a:spcAft>
              <a:buSzPct val="100000"/>
              <a:buChar char="•"/>
            </a:pPr>
            <a:r>
              <a:rPr lang="en-US" sz="1150" dirty="0">
                <a:solidFill>
                  <a:srgbClr val="47586E"/>
                </a:solidFill>
                <a:latin typeface="Calibri" pitchFamily="34" charset="0"/>
                <a:ea typeface="Calibri" pitchFamily="34" charset="-122"/>
                <a:cs typeface="Calibri" pitchFamily="34" charset="-120"/>
              </a:rPr>
              <a:t>Projections use only measurements already recorded. No assumption is supplied by the analyst.</a:t>
            </a:r>
            <a:endParaRPr lang="en-US" sz="1150" dirty="0"/>
          </a:p>
        </p:txBody>
      </p:sp>
      <p:sp>
        <p:nvSpPr>
          <p:cNvPr id="7" name="Text 4"/>
          <p:cNvSpPr txBox="1"/>
          <p:nvPr/>
        </p:nvSpPr>
        <p:spPr>
          <a:xfrm>
            <a:off x="658368" y="5742432"/>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Schematic. The flat reference is the target and the three curves are the projected trajectories to the end of the plan. It illustrates the method; it is not a measurement.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ANALYSIS</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Four views answer different questions from one evidence base.</a:t>
            </a:r>
            <a:endParaRPr lang="en-US" sz="2500" dirty="0"/>
          </a:p>
        </p:txBody>
      </p:sp>
      <p:sp>
        <p:nvSpPr>
          <p:cNvPr id="4" name="Shape 2"/>
          <p:cNvSpPr/>
          <p:nvPr/>
        </p:nvSpPr>
        <p:spPr>
          <a:xfrm>
            <a:off x="658368" y="1847088"/>
            <a:ext cx="2471852" cy="3255264"/>
          </a:xfrm>
          <a:prstGeom prst="roundRect">
            <a:avLst>
              <a:gd name="adj" fmla="val 2589"/>
            </a:avLst>
          </a:prstGeom>
          <a:solidFill>
            <a:srgbClr val="F7FAFC"/>
          </a:solidFill>
          <a:ln w="12700">
            <a:solidFill>
              <a:srgbClr val="E3EAF2"/>
            </a:solidFill>
            <a:prstDash val="solid"/>
          </a:ln>
        </p:spPr>
      </p:sp>
      <p:sp>
        <p:nvSpPr>
          <p:cNvPr id="5" name="Shape 3"/>
          <p:cNvSpPr/>
          <p:nvPr/>
        </p:nvSpPr>
        <p:spPr>
          <a:xfrm>
            <a:off x="914400" y="2153412"/>
            <a:ext cx="82296" cy="82296"/>
          </a:xfrm>
          <a:prstGeom prst="ellipse">
            <a:avLst/>
          </a:prstGeom>
          <a:solidFill>
            <a:srgbClr val="009EDB"/>
          </a:solidFill>
          <a:ln w="12700">
            <a:solidFill>
              <a:srgbClr val="333333"/>
            </a:solidFill>
            <a:prstDash val="solid"/>
          </a:ln>
        </p:spPr>
      </p:sp>
      <p:sp>
        <p:nvSpPr>
          <p:cNvPr id="6" name="Text 4"/>
          <p:cNvSpPr txBox="1"/>
          <p:nvPr/>
        </p:nvSpPr>
        <p:spPr>
          <a:xfrm>
            <a:off x="1097280" y="2093976"/>
            <a:ext cx="177690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MAP</a:t>
            </a:r>
            <a:endParaRPr lang="en-US" sz="950" dirty="0"/>
          </a:p>
        </p:txBody>
      </p:sp>
      <p:sp>
        <p:nvSpPr>
          <p:cNvPr id="7" name="Text 5"/>
          <p:cNvSpPr txBox="1"/>
          <p:nvPr/>
        </p:nvSpPr>
        <p:spPr>
          <a:xfrm>
            <a:off x="914400" y="2468880"/>
            <a:ext cx="1959788" cy="239572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Every activity resolved to a named settlement with coordinates. Marker size carries reporting volume and colour carries performance.</a:t>
            </a:r>
            <a:endParaRPr lang="en-US" sz="1200" dirty="0"/>
          </a:p>
        </p:txBody>
      </p:sp>
      <p:sp>
        <p:nvSpPr>
          <p:cNvPr id="8" name="Shape 6"/>
          <p:cNvSpPr/>
          <p:nvPr/>
        </p:nvSpPr>
        <p:spPr>
          <a:xfrm>
            <a:off x="3459404" y="1847088"/>
            <a:ext cx="2471852" cy="3255264"/>
          </a:xfrm>
          <a:prstGeom prst="roundRect">
            <a:avLst>
              <a:gd name="adj" fmla="val 2589"/>
            </a:avLst>
          </a:prstGeom>
          <a:solidFill>
            <a:srgbClr val="F7FAFC"/>
          </a:solidFill>
          <a:ln w="12700">
            <a:solidFill>
              <a:srgbClr val="E3EAF2"/>
            </a:solidFill>
            <a:prstDash val="solid"/>
          </a:ln>
        </p:spPr>
      </p:sp>
      <p:sp>
        <p:nvSpPr>
          <p:cNvPr id="9" name="Shape 7"/>
          <p:cNvSpPr/>
          <p:nvPr/>
        </p:nvSpPr>
        <p:spPr>
          <a:xfrm>
            <a:off x="3715436" y="2153412"/>
            <a:ext cx="82296" cy="82296"/>
          </a:xfrm>
          <a:prstGeom prst="ellipse">
            <a:avLst/>
          </a:prstGeom>
          <a:solidFill>
            <a:srgbClr val="009EDB"/>
          </a:solidFill>
          <a:ln w="12700">
            <a:solidFill>
              <a:srgbClr val="333333"/>
            </a:solidFill>
            <a:prstDash val="solid"/>
          </a:ln>
        </p:spPr>
      </p:sp>
      <p:sp>
        <p:nvSpPr>
          <p:cNvPr id="10" name="Text 8"/>
          <p:cNvSpPr txBox="1"/>
          <p:nvPr/>
        </p:nvSpPr>
        <p:spPr>
          <a:xfrm>
            <a:off x="3898316" y="2093976"/>
            <a:ext cx="177690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INSIGHTS</a:t>
            </a:r>
            <a:endParaRPr lang="en-US" sz="950" dirty="0"/>
          </a:p>
        </p:txBody>
      </p:sp>
      <p:sp>
        <p:nvSpPr>
          <p:cNvPr id="11" name="Text 9"/>
          <p:cNvSpPr txBox="1"/>
          <p:nvPr/>
        </p:nvSpPr>
        <p:spPr>
          <a:xfrm>
            <a:off x="3715436" y="2468880"/>
            <a:ext cx="1959788" cy="239572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Any two dimensions cross-tabulated: donor, country, partner, beneficiary group, period. No query is written by the user.</a:t>
            </a:r>
            <a:endParaRPr lang="en-US" sz="1200" dirty="0"/>
          </a:p>
        </p:txBody>
      </p:sp>
      <p:sp>
        <p:nvSpPr>
          <p:cNvPr id="12" name="Shape 10"/>
          <p:cNvSpPr/>
          <p:nvPr/>
        </p:nvSpPr>
        <p:spPr>
          <a:xfrm>
            <a:off x="6260440" y="1847088"/>
            <a:ext cx="2471852" cy="3255264"/>
          </a:xfrm>
          <a:prstGeom prst="roundRect">
            <a:avLst>
              <a:gd name="adj" fmla="val 2589"/>
            </a:avLst>
          </a:prstGeom>
          <a:solidFill>
            <a:srgbClr val="F7FAFC"/>
          </a:solidFill>
          <a:ln w="12700">
            <a:solidFill>
              <a:srgbClr val="E3EAF2"/>
            </a:solidFill>
            <a:prstDash val="solid"/>
          </a:ln>
        </p:spPr>
      </p:sp>
      <p:sp>
        <p:nvSpPr>
          <p:cNvPr id="13" name="Shape 11"/>
          <p:cNvSpPr/>
          <p:nvPr/>
        </p:nvSpPr>
        <p:spPr>
          <a:xfrm>
            <a:off x="6516472" y="2153412"/>
            <a:ext cx="82296" cy="82296"/>
          </a:xfrm>
          <a:prstGeom prst="ellipse">
            <a:avLst/>
          </a:prstGeom>
          <a:solidFill>
            <a:srgbClr val="009EDB"/>
          </a:solidFill>
          <a:ln w="12700">
            <a:solidFill>
              <a:srgbClr val="333333"/>
            </a:solidFill>
            <a:prstDash val="solid"/>
          </a:ln>
        </p:spPr>
      </p:sp>
      <p:sp>
        <p:nvSpPr>
          <p:cNvPr id="14" name="Text 12"/>
          <p:cNvSpPr txBox="1"/>
          <p:nvPr/>
        </p:nvSpPr>
        <p:spPr>
          <a:xfrm>
            <a:off x="6699352" y="2093976"/>
            <a:ext cx="177690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TIMELINE</a:t>
            </a:r>
            <a:endParaRPr lang="en-US" sz="950" dirty="0"/>
          </a:p>
        </p:txBody>
      </p:sp>
      <p:sp>
        <p:nvSpPr>
          <p:cNvPr id="15" name="Text 13"/>
          <p:cNvSpPr txBox="1"/>
          <p:nvPr/>
        </p:nvSpPr>
        <p:spPr>
          <a:xfrm>
            <a:off x="6516472" y="2468880"/>
            <a:ext cx="1959788" cy="239572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Every project against the calendar, grouped by plan, impact, donor, partner or country, with reporting density along each bar.</a:t>
            </a:r>
            <a:endParaRPr lang="en-US" sz="1200" dirty="0"/>
          </a:p>
        </p:txBody>
      </p:sp>
      <p:sp>
        <p:nvSpPr>
          <p:cNvPr id="16" name="Shape 14"/>
          <p:cNvSpPr/>
          <p:nvPr/>
        </p:nvSpPr>
        <p:spPr>
          <a:xfrm>
            <a:off x="9061475" y="1847088"/>
            <a:ext cx="2471852" cy="3255264"/>
          </a:xfrm>
          <a:prstGeom prst="roundRect">
            <a:avLst>
              <a:gd name="adj" fmla="val 2589"/>
            </a:avLst>
          </a:prstGeom>
          <a:solidFill>
            <a:srgbClr val="F7FAFC"/>
          </a:solidFill>
          <a:ln w="12700">
            <a:solidFill>
              <a:srgbClr val="E3EAF2"/>
            </a:solidFill>
            <a:prstDash val="solid"/>
          </a:ln>
        </p:spPr>
      </p:sp>
      <p:sp>
        <p:nvSpPr>
          <p:cNvPr id="17" name="Shape 15"/>
          <p:cNvSpPr/>
          <p:nvPr/>
        </p:nvSpPr>
        <p:spPr>
          <a:xfrm>
            <a:off x="9317507" y="2153412"/>
            <a:ext cx="82296" cy="82296"/>
          </a:xfrm>
          <a:prstGeom prst="ellipse">
            <a:avLst/>
          </a:prstGeom>
          <a:solidFill>
            <a:srgbClr val="009EDB"/>
          </a:solidFill>
          <a:ln w="12700">
            <a:solidFill>
              <a:srgbClr val="333333"/>
            </a:solidFill>
            <a:prstDash val="solid"/>
          </a:ln>
        </p:spPr>
      </p:sp>
      <p:sp>
        <p:nvSpPr>
          <p:cNvPr id="18" name="Text 16"/>
          <p:cNvSpPr txBox="1"/>
          <p:nvPr/>
        </p:nvSpPr>
        <p:spPr>
          <a:xfrm>
            <a:off x="9500387" y="2093976"/>
            <a:ext cx="177690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FORECAST</a:t>
            </a:r>
            <a:endParaRPr lang="en-US" sz="950" dirty="0"/>
          </a:p>
        </p:txBody>
      </p:sp>
      <p:sp>
        <p:nvSpPr>
          <p:cNvPr id="19" name="Text 17"/>
          <p:cNvSpPr txBox="1"/>
          <p:nvPr/>
        </p:nvSpPr>
        <p:spPr>
          <a:xfrm>
            <a:off x="9317507" y="2468880"/>
            <a:ext cx="1959788" cy="239572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Every indicator projected to the end of the plan, ranked by the risk that the target will not be met.</a:t>
            </a:r>
            <a:endParaRPr lang="en-US" sz="1200" dirty="0"/>
          </a:p>
        </p:txBody>
      </p:sp>
      <p:sp>
        <p:nvSpPr>
          <p:cNvPr id="20" name="Shape 18"/>
          <p:cNvSpPr/>
          <p:nvPr/>
        </p:nvSpPr>
        <p:spPr>
          <a:xfrm>
            <a:off x="658368" y="5266944"/>
            <a:ext cx="10874959" cy="896112"/>
          </a:xfrm>
          <a:prstGeom prst="roundRect">
            <a:avLst>
              <a:gd name="adj" fmla="val 6122"/>
            </a:avLst>
          </a:prstGeom>
          <a:solidFill>
            <a:srgbClr val="EAF6FD"/>
          </a:solidFill>
          <a:ln w="12700">
            <a:solidFill>
              <a:srgbClr val="333333"/>
            </a:solidFill>
            <a:prstDash val="solid"/>
          </a:ln>
        </p:spPr>
      </p:sp>
      <p:sp>
        <p:nvSpPr>
          <p:cNvPr id="21" name="Text 19"/>
          <p:cNvSpPr txBox="1"/>
          <p:nvPr/>
        </p:nvSpPr>
        <p:spPr>
          <a:xfrm>
            <a:off x="969264" y="5413248"/>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One set of filters governs all four views. A question posed on the map remains in force when the analyst moves to the forecast.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ACCOUNTABILITY</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Each result carries a named officer and reports to them monthly.</a:t>
            </a:r>
            <a:endParaRPr lang="en-US" sz="2500" dirty="0"/>
          </a:p>
        </p:txBody>
      </p:sp>
      <p:sp>
        <p:nvSpPr>
          <p:cNvPr id="4" name="Shape 2"/>
          <p:cNvSpPr/>
          <p:nvPr/>
        </p:nvSpPr>
        <p:spPr>
          <a:xfrm>
            <a:off x="658368" y="2523744"/>
            <a:ext cx="10874959" cy="12802"/>
          </a:xfrm>
          <a:prstGeom prst="rect">
            <a:avLst/>
          </a:prstGeom>
          <a:solidFill>
            <a:srgbClr val="E3EAF2"/>
          </a:solidFill>
          <a:ln w="12700">
            <a:solidFill>
              <a:srgbClr val="333333"/>
            </a:solidFill>
            <a:prstDash val="solid"/>
          </a:ln>
        </p:spPr>
      </p:sp>
      <p:sp>
        <p:nvSpPr>
          <p:cNvPr id="5" name="Shape 3"/>
          <p:cNvSpPr/>
          <p:nvPr/>
        </p:nvSpPr>
        <p:spPr>
          <a:xfrm>
            <a:off x="1912582" y="2432304"/>
            <a:ext cx="210312" cy="210312"/>
          </a:xfrm>
          <a:prstGeom prst="ellipse">
            <a:avLst/>
          </a:prstGeom>
          <a:solidFill>
            <a:srgbClr val="009EDB"/>
          </a:solidFill>
          <a:ln w="38100">
            <a:solidFill>
              <a:srgbClr val="FFFFFF"/>
            </a:solidFill>
            <a:prstDash val="solid"/>
          </a:ln>
        </p:spPr>
      </p:sp>
      <p:sp>
        <p:nvSpPr>
          <p:cNvPr id="6" name="Text 4"/>
          <p:cNvSpPr txBox="1"/>
          <p:nvPr/>
        </p:nvSpPr>
        <p:spPr>
          <a:xfrm>
            <a:off x="74980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ASSIGNED</a:t>
            </a:r>
            <a:endParaRPr lang="en-US" sz="1000" dirty="0"/>
          </a:p>
        </p:txBody>
      </p:sp>
      <p:sp>
        <p:nvSpPr>
          <p:cNvPr id="7" name="Text 5"/>
          <p:cNvSpPr txBox="1"/>
          <p:nvPr/>
        </p:nvSpPr>
        <p:spPr>
          <a:xfrm>
            <a:off x="74980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Every plan, impact, outcome, output, project, donor, partner, region and country carries one accountable officer.</a:t>
            </a:r>
            <a:endParaRPr lang="en-US" sz="1100" dirty="0"/>
          </a:p>
        </p:txBody>
      </p:sp>
      <p:sp>
        <p:nvSpPr>
          <p:cNvPr id="8" name="Shape 6"/>
          <p:cNvSpPr/>
          <p:nvPr/>
        </p:nvSpPr>
        <p:spPr>
          <a:xfrm>
            <a:off x="4631322" y="2432304"/>
            <a:ext cx="210312" cy="210312"/>
          </a:xfrm>
          <a:prstGeom prst="ellipse">
            <a:avLst/>
          </a:prstGeom>
          <a:solidFill>
            <a:srgbClr val="009EDB"/>
          </a:solidFill>
          <a:ln w="38100">
            <a:solidFill>
              <a:srgbClr val="FFFFFF"/>
            </a:solidFill>
            <a:prstDash val="solid"/>
          </a:ln>
        </p:spPr>
      </p:sp>
      <p:sp>
        <p:nvSpPr>
          <p:cNvPr id="9" name="Text 7"/>
          <p:cNvSpPr txBox="1"/>
          <p:nvPr/>
        </p:nvSpPr>
        <p:spPr>
          <a:xfrm>
            <a:off x="346854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GENERATED</a:t>
            </a:r>
            <a:endParaRPr lang="en-US" sz="1000" dirty="0"/>
          </a:p>
        </p:txBody>
      </p:sp>
      <p:sp>
        <p:nvSpPr>
          <p:cNvPr id="10" name="Text 8"/>
          <p:cNvSpPr txBox="1"/>
          <p:nvPr/>
        </p:nvSpPr>
        <p:spPr>
          <a:xfrm>
            <a:off x="346854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At month end the platform compiles a results report and a forecast brief for each officer, scoped to their responsibility.</a:t>
            </a:r>
            <a:endParaRPr lang="en-US" sz="1100" dirty="0"/>
          </a:p>
        </p:txBody>
      </p:sp>
      <p:sp>
        <p:nvSpPr>
          <p:cNvPr id="11" name="Shape 9"/>
          <p:cNvSpPr/>
          <p:nvPr/>
        </p:nvSpPr>
        <p:spPr>
          <a:xfrm>
            <a:off x="7350061" y="2432304"/>
            <a:ext cx="210312" cy="210312"/>
          </a:xfrm>
          <a:prstGeom prst="ellipse">
            <a:avLst/>
          </a:prstGeom>
          <a:solidFill>
            <a:srgbClr val="009EDB"/>
          </a:solidFill>
          <a:ln w="38100">
            <a:solidFill>
              <a:srgbClr val="FFFFFF"/>
            </a:solidFill>
            <a:prstDash val="solid"/>
          </a:ln>
        </p:spPr>
      </p:sp>
      <p:sp>
        <p:nvSpPr>
          <p:cNvPr id="12" name="Text 10"/>
          <p:cNvSpPr txBox="1"/>
          <p:nvPr/>
        </p:nvSpPr>
        <p:spPr>
          <a:xfrm>
            <a:off x="618728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REVIEWED</a:t>
            </a:r>
            <a:endParaRPr lang="en-US" sz="1000" dirty="0"/>
          </a:p>
        </p:txBody>
      </p:sp>
      <p:sp>
        <p:nvSpPr>
          <p:cNvPr id="13" name="Text 11"/>
          <p:cNvSpPr txBox="1"/>
          <p:nvPr/>
        </p:nvSpPr>
        <p:spPr>
          <a:xfrm>
            <a:off x="618728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Reports are produced in batch and reviewed individually before release.</a:t>
            </a:r>
            <a:endParaRPr lang="en-US" sz="1100" dirty="0"/>
          </a:p>
        </p:txBody>
      </p:sp>
      <p:sp>
        <p:nvSpPr>
          <p:cNvPr id="14" name="Shape 12"/>
          <p:cNvSpPr/>
          <p:nvPr/>
        </p:nvSpPr>
        <p:spPr>
          <a:xfrm>
            <a:off x="10068801" y="2432304"/>
            <a:ext cx="210312" cy="210312"/>
          </a:xfrm>
          <a:prstGeom prst="ellipse">
            <a:avLst/>
          </a:prstGeom>
          <a:solidFill>
            <a:srgbClr val="009EDB"/>
          </a:solidFill>
          <a:ln w="38100">
            <a:solidFill>
              <a:srgbClr val="FFFFFF"/>
            </a:solidFill>
            <a:prstDash val="solid"/>
          </a:ln>
        </p:spPr>
      </p:sp>
      <p:sp>
        <p:nvSpPr>
          <p:cNvPr id="15" name="Text 13"/>
          <p:cNvSpPr txBox="1"/>
          <p:nvPr/>
        </p:nvSpPr>
        <p:spPr>
          <a:xfrm>
            <a:off x="8906027"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ISSUED</a:t>
            </a:r>
            <a:endParaRPr lang="en-US" sz="1000" dirty="0"/>
          </a:p>
        </p:txBody>
      </p:sp>
      <p:sp>
        <p:nvSpPr>
          <p:cNvPr id="16" name="Text 14"/>
          <p:cNvSpPr txBox="1"/>
          <p:nvPr/>
        </p:nvSpPr>
        <p:spPr>
          <a:xfrm>
            <a:off x="8906027"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Distribution is by electronic mail. No report is requested, chased or assembled by hand.</a:t>
            </a:r>
            <a:endParaRPr lang="en-US" sz="1100" dirty="0"/>
          </a:p>
        </p:txBody>
      </p:sp>
      <p:sp>
        <p:nvSpPr>
          <p:cNvPr id="17" name="Shape 15"/>
          <p:cNvSpPr/>
          <p:nvPr/>
        </p:nvSpPr>
        <p:spPr>
          <a:xfrm>
            <a:off x="658368" y="4882896"/>
            <a:ext cx="10874959" cy="896112"/>
          </a:xfrm>
          <a:prstGeom prst="roundRect">
            <a:avLst>
              <a:gd name="adj" fmla="val 6122"/>
            </a:avLst>
          </a:prstGeom>
          <a:solidFill>
            <a:srgbClr val="EAF6FD"/>
          </a:solidFill>
          <a:ln w="12700">
            <a:solidFill>
              <a:srgbClr val="333333"/>
            </a:solidFill>
            <a:prstDash val="solid"/>
          </a:ln>
        </p:spPr>
      </p:sp>
      <p:sp>
        <p:nvSpPr>
          <p:cNvPr id="18" name="Text 16"/>
          <p:cNvSpPr txBox="1"/>
          <p:nvPr/>
        </p:nvSpPr>
        <p:spPr>
          <a:xfrm>
            <a:off x="969264" y="5029200"/>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A report is retained exactly as issued and is not revised when later data arrives. This is what makes comparison between two months valid.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FIELD REPORTING</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One form records a measurement in about one minute.</a:t>
            </a:r>
            <a:endParaRPr lang="en-US" sz="2500" dirty="0"/>
          </a:p>
        </p:txBody>
      </p:sp>
      <p:sp>
        <p:nvSpPr>
          <p:cNvPr id="4" name="Shape 2"/>
          <p:cNvSpPr/>
          <p:nvPr/>
        </p:nvSpPr>
        <p:spPr>
          <a:xfrm>
            <a:off x="658368" y="1938528"/>
            <a:ext cx="292608" cy="292608"/>
          </a:xfrm>
          <a:prstGeom prst="ellipse">
            <a:avLst/>
          </a:prstGeom>
          <a:solidFill>
            <a:srgbClr val="EAF6FD"/>
          </a:solidFill>
          <a:ln w="12700">
            <a:solidFill>
              <a:srgbClr val="009EDB"/>
            </a:solidFill>
            <a:prstDash val="solid"/>
          </a:ln>
        </p:spPr>
      </p:sp>
      <p:sp>
        <p:nvSpPr>
          <p:cNvPr id="5" name="Text 3"/>
          <p:cNvSpPr txBox="1"/>
          <p:nvPr/>
        </p:nvSpPr>
        <p:spPr>
          <a:xfrm>
            <a:off x="658368" y="1979676"/>
            <a:ext cx="292608" cy="219456"/>
          </a:xfrm>
          <a:prstGeom prst="rect">
            <a:avLst/>
          </a:prstGeom>
          <a:noFill/>
          <a:ln/>
        </p:spPr>
        <p:txBody>
          <a:bodyPr wrap="square" lIns="0" tIns="0" rIns="0" bIns="0" rtlCol="0" anchor="ctr"/>
          <a:lstStyle/>
          <a:p>
            <a:pPr algn="ctr" indent="0" marL="0">
              <a:buNone/>
            </a:pPr>
            <a:r>
              <a:rPr lang="en-US" sz="1100" b="1" dirty="0">
                <a:solidFill>
                  <a:srgbClr val="0072A8"/>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97280" y="1920240"/>
            <a:ext cx="4833976" cy="548640"/>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Select the indicator being reported against.</a:t>
            </a:r>
            <a:endParaRPr lang="en-US" sz="1200" dirty="0"/>
          </a:p>
        </p:txBody>
      </p:sp>
      <p:sp>
        <p:nvSpPr>
          <p:cNvPr id="7" name="Shape 5"/>
          <p:cNvSpPr/>
          <p:nvPr/>
        </p:nvSpPr>
        <p:spPr>
          <a:xfrm>
            <a:off x="658368" y="2706624"/>
            <a:ext cx="292608" cy="292608"/>
          </a:xfrm>
          <a:prstGeom prst="ellipse">
            <a:avLst/>
          </a:prstGeom>
          <a:solidFill>
            <a:srgbClr val="EAF6FD"/>
          </a:solidFill>
          <a:ln w="12700">
            <a:solidFill>
              <a:srgbClr val="009EDB"/>
            </a:solidFill>
            <a:prstDash val="solid"/>
          </a:ln>
        </p:spPr>
      </p:sp>
      <p:sp>
        <p:nvSpPr>
          <p:cNvPr id="8" name="Text 6"/>
          <p:cNvSpPr txBox="1"/>
          <p:nvPr/>
        </p:nvSpPr>
        <p:spPr>
          <a:xfrm>
            <a:off x="658368" y="2747772"/>
            <a:ext cx="292608" cy="219456"/>
          </a:xfrm>
          <a:prstGeom prst="rect">
            <a:avLst/>
          </a:prstGeom>
          <a:noFill/>
          <a:ln/>
        </p:spPr>
        <p:txBody>
          <a:bodyPr wrap="square" lIns="0" tIns="0" rIns="0" bIns="0" rtlCol="0" anchor="ctr"/>
          <a:lstStyle/>
          <a:p>
            <a:pPr algn="ctr" indent="0" marL="0">
              <a:buNone/>
            </a:pPr>
            <a:r>
              <a:rPr lang="en-US" sz="1100" b="1" dirty="0">
                <a:solidFill>
                  <a:srgbClr val="0072A8"/>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097280" y="2688336"/>
            <a:ext cx="4833976" cy="548640"/>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Describe what was done and enter the value. The resulting total is shown before the record is committed.</a:t>
            </a:r>
            <a:endParaRPr lang="en-US" sz="1200" dirty="0"/>
          </a:p>
        </p:txBody>
      </p:sp>
      <p:sp>
        <p:nvSpPr>
          <p:cNvPr id="10" name="Shape 8"/>
          <p:cNvSpPr/>
          <p:nvPr/>
        </p:nvSpPr>
        <p:spPr>
          <a:xfrm>
            <a:off x="658368" y="3474720"/>
            <a:ext cx="292608" cy="292608"/>
          </a:xfrm>
          <a:prstGeom prst="ellipse">
            <a:avLst/>
          </a:prstGeom>
          <a:solidFill>
            <a:srgbClr val="EAF6FD"/>
          </a:solidFill>
          <a:ln w="12700">
            <a:solidFill>
              <a:srgbClr val="009EDB"/>
            </a:solidFill>
            <a:prstDash val="solid"/>
          </a:ln>
        </p:spPr>
      </p:sp>
      <p:sp>
        <p:nvSpPr>
          <p:cNvPr id="11" name="Text 9"/>
          <p:cNvSpPr txBox="1"/>
          <p:nvPr/>
        </p:nvSpPr>
        <p:spPr>
          <a:xfrm>
            <a:off x="658368" y="3515868"/>
            <a:ext cx="292608" cy="219456"/>
          </a:xfrm>
          <a:prstGeom prst="rect">
            <a:avLst/>
          </a:prstGeom>
          <a:noFill/>
          <a:ln/>
        </p:spPr>
        <p:txBody>
          <a:bodyPr wrap="square" lIns="0" tIns="0" rIns="0" bIns="0" rtlCol="0" anchor="ctr"/>
          <a:lstStyle/>
          <a:p>
            <a:pPr algn="ctr" indent="0" marL="0">
              <a:buNone/>
            </a:pPr>
            <a:r>
              <a:rPr lang="en-US" sz="1100" b="1" dirty="0">
                <a:solidFill>
                  <a:srgbClr val="0072A8"/>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097280" y="3456432"/>
            <a:ext cx="4833976" cy="548640"/>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Identify the location. It is resolved against a public gazetteer and stored with coordinates.</a:t>
            </a:r>
            <a:endParaRPr lang="en-US" sz="1200" dirty="0"/>
          </a:p>
        </p:txBody>
      </p:sp>
      <p:sp>
        <p:nvSpPr>
          <p:cNvPr id="13" name="Shape 11"/>
          <p:cNvSpPr/>
          <p:nvPr/>
        </p:nvSpPr>
        <p:spPr>
          <a:xfrm>
            <a:off x="658368" y="4242816"/>
            <a:ext cx="292608" cy="292608"/>
          </a:xfrm>
          <a:prstGeom prst="ellipse">
            <a:avLst/>
          </a:prstGeom>
          <a:solidFill>
            <a:srgbClr val="EAF6FD"/>
          </a:solidFill>
          <a:ln w="12700">
            <a:solidFill>
              <a:srgbClr val="009EDB"/>
            </a:solidFill>
            <a:prstDash val="solid"/>
          </a:ln>
        </p:spPr>
      </p:sp>
      <p:sp>
        <p:nvSpPr>
          <p:cNvPr id="14" name="Text 12"/>
          <p:cNvSpPr txBox="1"/>
          <p:nvPr/>
        </p:nvSpPr>
        <p:spPr>
          <a:xfrm>
            <a:off x="658368" y="4283964"/>
            <a:ext cx="292608" cy="219456"/>
          </a:xfrm>
          <a:prstGeom prst="rect">
            <a:avLst/>
          </a:prstGeom>
          <a:noFill/>
          <a:ln/>
        </p:spPr>
        <p:txBody>
          <a:bodyPr wrap="square" lIns="0" tIns="0" rIns="0" bIns="0" rtlCol="0" anchor="ctr"/>
          <a:lstStyle/>
          <a:p>
            <a:pPr algn="ctr" indent="0" marL="0">
              <a:buNone/>
            </a:pPr>
            <a:r>
              <a:rPr lang="en-US" sz="1100" b="1" dirty="0">
                <a:solidFill>
                  <a:srgbClr val="0072A8"/>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97280" y="4224528"/>
            <a:ext cx="4833976" cy="548640"/>
          </a:xfrm>
          <a:prstGeom prst="rect">
            <a:avLst/>
          </a:prstGeom>
          <a:noFill/>
          <a:ln/>
        </p:spPr>
        <p:txBody>
          <a:bodyPr wrap="square" lIns="0" tIns="0" rIns="0" bIns="0" rtlCol="0" anchor="ctr"/>
          <a:lstStyle/>
          <a:p>
            <a:pPr indent="0" marL="0">
              <a:lnSpc>
                <a:spcPts val="1700"/>
              </a:lnSpc>
              <a:buNone/>
            </a:pPr>
            <a:r>
              <a:rPr lang="en-US" sz="1200" dirty="0">
                <a:solidFill>
                  <a:srgbClr val="47586E"/>
                </a:solidFill>
                <a:latin typeface="Calibri" pitchFamily="34" charset="0"/>
                <a:ea typeface="Calibri" pitchFamily="34" charset="-122"/>
                <a:cs typeface="Calibri" pitchFamily="34" charset="-120"/>
              </a:rPr>
              <a:t>Record the beneficiary breakdown, using the categories the institution maintains.</a:t>
            </a:r>
            <a:endParaRPr lang="en-US" sz="1200" dirty="0"/>
          </a:p>
        </p:txBody>
      </p:sp>
      <p:sp>
        <p:nvSpPr>
          <p:cNvPr id="16" name="Shape 14"/>
          <p:cNvSpPr/>
          <p:nvPr/>
        </p:nvSpPr>
        <p:spPr>
          <a:xfrm>
            <a:off x="6260440" y="1847088"/>
            <a:ext cx="5272888" cy="2212848"/>
          </a:xfrm>
          <a:prstGeom prst="roundRect">
            <a:avLst>
              <a:gd name="adj" fmla="val 2893"/>
            </a:avLst>
          </a:prstGeom>
          <a:solidFill>
            <a:srgbClr val="F7FAFC"/>
          </a:solidFill>
          <a:ln w="12700">
            <a:solidFill>
              <a:srgbClr val="E3EAF2"/>
            </a:solidFill>
            <a:prstDash val="solid"/>
          </a:ln>
        </p:spPr>
      </p:sp>
      <p:sp>
        <p:nvSpPr>
          <p:cNvPr id="17" name="Shape 15"/>
          <p:cNvSpPr/>
          <p:nvPr/>
        </p:nvSpPr>
        <p:spPr>
          <a:xfrm>
            <a:off x="6516472" y="2153412"/>
            <a:ext cx="82296" cy="82296"/>
          </a:xfrm>
          <a:prstGeom prst="ellipse">
            <a:avLst/>
          </a:prstGeom>
          <a:solidFill>
            <a:srgbClr val="009EDB"/>
          </a:solidFill>
          <a:ln w="12700">
            <a:solidFill>
              <a:srgbClr val="333333"/>
            </a:solidFill>
            <a:prstDash val="solid"/>
          </a:ln>
        </p:spPr>
      </p:sp>
      <p:sp>
        <p:nvSpPr>
          <p:cNvPr id="18" name="Text 16"/>
          <p:cNvSpPr txBox="1"/>
          <p:nvPr/>
        </p:nvSpPr>
        <p:spPr>
          <a:xfrm>
            <a:off x="6699352" y="2093976"/>
            <a:ext cx="4577944"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DESIGNED FOR THE FIELD</a:t>
            </a:r>
            <a:endParaRPr lang="en-US" sz="950" dirty="0"/>
          </a:p>
        </p:txBody>
      </p:sp>
      <p:sp>
        <p:nvSpPr>
          <p:cNvPr id="19" name="Text 17"/>
          <p:cNvSpPr txBox="1"/>
          <p:nvPr/>
        </p:nvSpPr>
        <p:spPr>
          <a:xfrm>
            <a:off x="6516472" y="2468880"/>
            <a:ext cx="4760824" cy="1353312"/>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The mobile version installs to the home screen and continues to operate without a connection. Attribution to a project is optional, so a report is never delayed by information the officer does not hold at the time.</a:t>
            </a:r>
            <a:endParaRPr lang="en-US" sz="1200" dirty="0"/>
          </a:p>
        </p:txBody>
      </p:sp>
      <p:sp>
        <p:nvSpPr>
          <p:cNvPr id="20" name="Shape 18"/>
          <p:cNvSpPr/>
          <p:nvPr/>
        </p:nvSpPr>
        <p:spPr>
          <a:xfrm>
            <a:off x="6260440" y="4279392"/>
            <a:ext cx="5272888" cy="1828800"/>
          </a:xfrm>
          <a:prstGeom prst="roundRect">
            <a:avLst>
              <a:gd name="adj" fmla="val 3500"/>
            </a:avLst>
          </a:prstGeom>
          <a:solidFill>
            <a:srgbClr val="FFFFFF"/>
          </a:solidFill>
          <a:ln w="12700">
            <a:solidFill>
              <a:srgbClr val="E3EAF2"/>
            </a:solidFill>
            <a:prstDash val="solid"/>
          </a:ln>
        </p:spPr>
      </p:sp>
      <p:sp>
        <p:nvSpPr>
          <p:cNvPr id="21" name="Shape 19"/>
          <p:cNvSpPr/>
          <p:nvPr/>
        </p:nvSpPr>
        <p:spPr>
          <a:xfrm>
            <a:off x="6516472" y="4585716"/>
            <a:ext cx="82296" cy="82296"/>
          </a:xfrm>
          <a:prstGeom prst="ellipse">
            <a:avLst/>
          </a:prstGeom>
          <a:solidFill>
            <a:srgbClr val="009EDB"/>
          </a:solidFill>
          <a:ln w="12700">
            <a:solidFill>
              <a:srgbClr val="333333"/>
            </a:solidFill>
            <a:prstDash val="solid"/>
          </a:ln>
        </p:spPr>
      </p:sp>
      <p:sp>
        <p:nvSpPr>
          <p:cNvPr id="22" name="Text 20"/>
          <p:cNvSpPr txBox="1"/>
          <p:nvPr/>
        </p:nvSpPr>
        <p:spPr>
          <a:xfrm>
            <a:off x="6699352" y="4526280"/>
            <a:ext cx="4577944"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THE ONLY TRAINING REQUIRED</a:t>
            </a:r>
            <a:endParaRPr lang="en-US" sz="950" dirty="0"/>
          </a:p>
        </p:txBody>
      </p:sp>
      <p:sp>
        <p:nvSpPr>
          <p:cNvPr id="23" name="Text 21"/>
          <p:cNvSpPr txBox="1"/>
          <p:nvPr/>
        </p:nvSpPr>
        <p:spPr>
          <a:xfrm>
            <a:off x="6516472" y="4901184"/>
            <a:ext cx="4760824" cy="969264"/>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This form is the single point of data entry. Every other figure in the platform is derived from it, which is why field training is measured in minutes rather than days.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LANGUAGE</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The interface and the data both operate in Arabic.</a:t>
            </a:r>
            <a:endParaRPr lang="en-US" sz="2500" dirty="0"/>
          </a:p>
        </p:txBody>
      </p:sp>
      <p:sp>
        <p:nvSpPr>
          <p:cNvPr id="4" name="Text 2"/>
          <p:cNvSpPr txBox="1"/>
          <p:nvPr/>
        </p:nvSpPr>
        <p:spPr>
          <a:xfrm>
            <a:off x="658368" y="1883664"/>
            <a:ext cx="5272888" cy="3383280"/>
          </a:xfrm>
          <a:prstGeom prst="rect">
            <a:avLst/>
          </a:prstGeom>
          <a:noFill/>
          <a:ln/>
        </p:spPr>
        <p:txBody>
          <a:bodyPr wrap="square" lIns="0" tIns="0" rIns="0" bIns="0" rtlCol="0" anchor="t"/>
          <a:lstStyle/>
          <a:p>
            <a:pPr marL="342900" indent="-342900">
              <a:lnSpc>
                <a:spcPts val="1860"/>
              </a:lnSpc>
              <a:spcAft>
                <a:spcPts val="800"/>
              </a:spcAft>
              <a:buSzPct val="100000"/>
              <a:buChar char="•"/>
            </a:pPr>
            <a:r>
              <a:rPr lang="en-US" sz="1200" dirty="0">
                <a:solidFill>
                  <a:srgbClr val="47586E"/>
                </a:solidFill>
                <a:latin typeface="Calibri" pitchFamily="34" charset="0"/>
                <a:ea typeface="Calibri" pitchFamily="34" charset="-122"/>
                <a:cs typeface="Calibri" pitchFamily="34" charset="-120"/>
              </a:rPr>
              <a:t>The language control sits at the top of the screen. Layout, alignment and numerals follow the reading direction.</a:t>
            </a:r>
            <a:endParaRPr lang="en-US" sz="1200" dirty="0"/>
          </a:p>
          <a:p>
            <a:pPr marL="342900" indent="-342900">
              <a:lnSpc>
                <a:spcPts val="1860"/>
              </a:lnSpc>
              <a:spcAft>
                <a:spcPts val="800"/>
              </a:spcAft>
              <a:buSzPct val="100000"/>
              <a:buChar char="•"/>
            </a:pPr>
            <a:r>
              <a:rPr lang="en-US" sz="1200" dirty="0">
                <a:solidFill>
                  <a:srgbClr val="47586E"/>
                </a:solidFill>
                <a:latin typeface="Calibri" pitchFamily="34" charset="0"/>
                <a:ea typeface="Calibri" pitchFamily="34" charset="-122"/>
                <a:cs typeface="Calibri" pitchFamily="34" charset="-120"/>
              </a:rPr>
              <a:t>Country names, project titles, indicators and result statements are translated, not only the interface labels.</a:t>
            </a:r>
            <a:endParaRPr lang="en-US" sz="1200" dirty="0"/>
          </a:p>
          <a:p>
            <a:pPr marL="342900" indent="-342900">
              <a:lnSpc>
                <a:spcPts val="1860"/>
              </a:lnSpc>
              <a:spcAft>
                <a:spcPts val="800"/>
              </a:spcAft>
              <a:buSzPct val="100000"/>
              <a:buChar char="•"/>
            </a:pPr>
            <a:r>
              <a:rPr lang="en-US" sz="1200" dirty="0">
                <a:solidFill>
                  <a:srgbClr val="47586E"/>
                </a:solidFill>
                <a:latin typeface="Calibri" pitchFamily="34" charset="0"/>
                <a:ea typeface="Calibri" pitchFamily="34" charset="-122"/>
                <a:cs typeface="Calibri" pitchFamily="34" charset="-120"/>
              </a:rPr>
              <a:t>Wording the platform has not met before is translated in the background and retained, so the work is performed once.</a:t>
            </a:r>
            <a:endParaRPr lang="en-US" sz="1200" dirty="0"/>
          </a:p>
          <a:p>
            <a:pPr marL="342900" indent="-342900">
              <a:lnSpc>
                <a:spcPts val="1860"/>
              </a:lnSpc>
              <a:spcAft>
                <a:spcPts val="800"/>
              </a:spcAft>
              <a:buSzPct val="100000"/>
              <a:buChar char="•"/>
            </a:pPr>
            <a:r>
              <a:rPr lang="en-US" sz="1200" dirty="0">
                <a:solidFill>
                  <a:srgbClr val="47586E"/>
                </a:solidFill>
                <a:latin typeface="Calibri" pitchFamily="34" charset="0"/>
                <a:ea typeface="Calibri" pitchFamily="34" charset="-122"/>
                <a:cs typeface="Calibri" pitchFamily="34" charset="-120"/>
              </a:rPr>
              <a:t>A further language is added by an administrator. It requires no release and no change to the schema.</a:t>
            </a:r>
            <a:endParaRPr lang="en-US" sz="1200" dirty="0"/>
          </a:p>
        </p:txBody>
      </p:sp>
      <p:sp>
        <p:nvSpPr>
          <p:cNvPr id="5" name="Shape 3"/>
          <p:cNvSpPr/>
          <p:nvPr/>
        </p:nvSpPr>
        <p:spPr>
          <a:xfrm>
            <a:off x="6260440" y="1847088"/>
            <a:ext cx="5272888" cy="2487168"/>
          </a:xfrm>
          <a:prstGeom prst="roundRect">
            <a:avLst>
              <a:gd name="adj" fmla="val 2574"/>
            </a:avLst>
          </a:prstGeom>
          <a:solidFill>
            <a:srgbClr val="F7FAFC"/>
          </a:solidFill>
          <a:ln w="12700">
            <a:solidFill>
              <a:srgbClr val="E3EAF2"/>
            </a:solidFill>
            <a:prstDash val="solid"/>
          </a:ln>
        </p:spPr>
      </p:sp>
      <p:sp>
        <p:nvSpPr>
          <p:cNvPr id="6" name="Shape 4"/>
          <p:cNvSpPr/>
          <p:nvPr/>
        </p:nvSpPr>
        <p:spPr>
          <a:xfrm>
            <a:off x="6516472" y="2153412"/>
            <a:ext cx="82296" cy="82296"/>
          </a:xfrm>
          <a:prstGeom prst="ellipse">
            <a:avLst/>
          </a:prstGeom>
          <a:solidFill>
            <a:srgbClr val="009EDB"/>
          </a:solidFill>
          <a:ln w="12700">
            <a:solidFill>
              <a:srgbClr val="333333"/>
            </a:solidFill>
            <a:prstDash val="solid"/>
          </a:ln>
        </p:spPr>
      </p:sp>
      <p:sp>
        <p:nvSpPr>
          <p:cNvPr id="7" name="Text 5"/>
          <p:cNvSpPr txBox="1"/>
          <p:nvPr/>
        </p:nvSpPr>
        <p:spPr>
          <a:xfrm>
            <a:off x="6699352" y="2093976"/>
            <a:ext cx="4577944"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RETAINED AS WRITTEN</a:t>
            </a:r>
            <a:endParaRPr lang="en-US" sz="950" dirty="0"/>
          </a:p>
        </p:txBody>
      </p:sp>
      <p:sp>
        <p:nvSpPr>
          <p:cNvPr id="8" name="Text 6"/>
          <p:cNvSpPr txBox="1"/>
          <p:nvPr/>
        </p:nvSpPr>
        <p:spPr>
          <a:xfrm>
            <a:off x="6516472" y="2468880"/>
            <a:ext cx="4760824" cy="1627632"/>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Personal names, user accounts and electronic mail addresses. Postal addresses, which must remain legible to the postal service that will deliver to them. Codes, acronyms and identifiers. None of these is translated, and none is transmitted to a third party.</a:t>
            </a:r>
            <a:endParaRPr lang="en-US" sz="1200" dirty="0"/>
          </a:p>
        </p:txBody>
      </p:sp>
      <p:sp>
        <p:nvSpPr>
          <p:cNvPr id="9" name="Shape 7"/>
          <p:cNvSpPr/>
          <p:nvPr/>
        </p:nvSpPr>
        <p:spPr>
          <a:xfrm>
            <a:off x="658368" y="4626864"/>
            <a:ext cx="5300320" cy="1225296"/>
          </a:xfrm>
          <a:prstGeom prst="roundRect">
            <a:avLst>
              <a:gd name="adj" fmla="val 5224"/>
            </a:avLst>
          </a:prstGeom>
          <a:solidFill>
            <a:srgbClr val="EAF6FD"/>
          </a:solidFill>
          <a:ln w="12700">
            <a:solidFill>
              <a:srgbClr val="333333"/>
            </a:solidFill>
            <a:prstDash val="solid"/>
          </a:ln>
        </p:spPr>
      </p:sp>
      <p:sp>
        <p:nvSpPr>
          <p:cNvPr id="10" name="Text 8"/>
          <p:cNvSpPr txBox="1"/>
          <p:nvPr/>
        </p:nvSpPr>
        <p:spPr>
          <a:xfrm>
            <a:off x="896112" y="4773168"/>
            <a:ext cx="482483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6,400</a:t>
            </a:r>
            <a:endParaRPr lang="en-US" sz="2700" dirty="0"/>
          </a:p>
        </p:txBody>
      </p:sp>
      <p:sp>
        <p:nvSpPr>
          <p:cNvPr id="11" name="Text 9"/>
          <p:cNvSpPr txBox="1"/>
          <p:nvPr/>
        </p:nvSpPr>
        <p:spPr>
          <a:xfrm>
            <a:off x="896112" y="5321808"/>
            <a:ext cx="482483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phrases supplied and reviewed</a:t>
            </a:r>
            <a:endParaRPr lang="en-US" sz="950" dirty="0"/>
          </a:p>
        </p:txBody>
      </p:sp>
      <p:sp>
        <p:nvSpPr>
          <p:cNvPr id="12" name="Shape 10"/>
          <p:cNvSpPr/>
          <p:nvPr/>
        </p:nvSpPr>
        <p:spPr>
          <a:xfrm>
            <a:off x="6233008" y="4626864"/>
            <a:ext cx="5300320" cy="1225296"/>
          </a:xfrm>
          <a:prstGeom prst="roundRect">
            <a:avLst>
              <a:gd name="adj" fmla="val 5224"/>
            </a:avLst>
          </a:prstGeom>
          <a:solidFill>
            <a:srgbClr val="EAF6FD"/>
          </a:solidFill>
          <a:ln w="12700">
            <a:solidFill>
              <a:srgbClr val="333333"/>
            </a:solidFill>
            <a:prstDash val="solid"/>
          </a:ln>
        </p:spPr>
      </p:sp>
      <p:sp>
        <p:nvSpPr>
          <p:cNvPr id="13" name="Text 11"/>
          <p:cNvSpPr txBox="1"/>
          <p:nvPr/>
        </p:nvSpPr>
        <p:spPr>
          <a:xfrm>
            <a:off x="6470752" y="4773168"/>
            <a:ext cx="482483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0</a:t>
            </a:r>
            <a:endParaRPr lang="en-US" sz="2700" dirty="0"/>
          </a:p>
        </p:txBody>
      </p:sp>
      <p:sp>
        <p:nvSpPr>
          <p:cNvPr id="14" name="Text 12"/>
          <p:cNvSpPr txBox="1"/>
          <p:nvPr/>
        </p:nvSpPr>
        <p:spPr>
          <a:xfrm>
            <a:off x="6470752" y="5321808"/>
            <a:ext cx="482483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network calls needed to read the interface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GOVERNANCE</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Access follows the record, so scope cannot fall out of step.</a:t>
            </a:r>
            <a:endParaRPr lang="en-US" sz="2500" dirty="0"/>
          </a:p>
        </p:txBody>
      </p:sp>
      <p:sp>
        <p:nvSpPr>
          <p:cNvPr id="4" name="Shape 2"/>
          <p:cNvSpPr/>
          <p:nvPr/>
        </p:nvSpPr>
        <p:spPr>
          <a:xfrm>
            <a:off x="658368" y="1847088"/>
            <a:ext cx="3405530" cy="2523744"/>
          </a:xfrm>
          <a:prstGeom prst="roundRect">
            <a:avLst>
              <a:gd name="adj" fmla="val 2536"/>
            </a:avLst>
          </a:prstGeom>
          <a:solidFill>
            <a:srgbClr val="F7FAFC"/>
          </a:solidFill>
          <a:ln w="12700">
            <a:solidFill>
              <a:srgbClr val="E3EAF2"/>
            </a:solidFill>
            <a:prstDash val="solid"/>
          </a:ln>
        </p:spPr>
      </p:sp>
      <p:sp>
        <p:nvSpPr>
          <p:cNvPr id="5" name="Shape 3"/>
          <p:cNvSpPr/>
          <p:nvPr/>
        </p:nvSpPr>
        <p:spPr>
          <a:xfrm>
            <a:off x="914400" y="2153412"/>
            <a:ext cx="82296" cy="82296"/>
          </a:xfrm>
          <a:prstGeom prst="ellipse">
            <a:avLst/>
          </a:prstGeom>
          <a:solidFill>
            <a:srgbClr val="009EDB"/>
          </a:solidFill>
          <a:ln w="12700">
            <a:solidFill>
              <a:srgbClr val="333333"/>
            </a:solidFill>
            <a:prstDash val="solid"/>
          </a:ln>
        </p:spPr>
      </p:sp>
      <p:sp>
        <p:nvSpPr>
          <p:cNvPr id="6" name="Text 4"/>
          <p:cNvSpPr txBox="1"/>
          <p:nvPr/>
        </p:nvSpPr>
        <p:spPr>
          <a:xfrm>
            <a:off x="1097280"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ROLES</a:t>
            </a:r>
            <a:endParaRPr lang="en-US" sz="950" dirty="0"/>
          </a:p>
        </p:txBody>
      </p:sp>
      <p:sp>
        <p:nvSpPr>
          <p:cNvPr id="7" name="Text 5"/>
          <p:cNvSpPr txBox="1"/>
          <p:nvPr/>
        </p:nvSpPr>
        <p:spPr>
          <a:xfrm>
            <a:off x="914400"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Administrator: the framework and reference data. User: reporting within scope. Viewer: read access only.</a:t>
            </a:r>
            <a:endParaRPr lang="en-US" sz="1200" dirty="0"/>
          </a:p>
        </p:txBody>
      </p:sp>
      <p:sp>
        <p:nvSpPr>
          <p:cNvPr id="8" name="Shape 6"/>
          <p:cNvSpPr/>
          <p:nvPr/>
        </p:nvSpPr>
        <p:spPr>
          <a:xfrm>
            <a:off x="4393082" y="1847088"/>
            <a:ext cx="3405530" cy="2523744"/>
          </a:xfrm>
          <a:prstGeom prst="roundRect">
            <a:avLst>
              <a:gd name="adj" fmla="val 2536"/>
            </a:avLst>
          </a:prstGeom>
          <a:solidFill>
            <a:srgbClr val="F7FAFC"/>
          </a:solidFill>
          <a:ln w="12700">
            <a:solidFill>
              <a:srgbClr val="E3EAF2"/>
            </a:solidFill>
            <a:prstDash val="solid"/>
          </a:ln>
        </p:spPr>
      </p:sp>
      <p:sp>
        <p:nvSpPr>
          <p:cNvPr id="9" name="Shape 7"/>
          <p:cNvSpPr/>
          <p:nvPr/>
        </p:nvSpPr>
        <p:spPr>
          <a:xfrm>
            <a:off x="4649114" y="2153412"/>
            <a:ext cx="82296" cy="82296"/>
          </a:xfrm>
          <a:prstGeom prst="ellipse">
            <a:avLst/>
          </a:prstGeom>
          <a:solidFill>
            <a:srgbClr val="009EDB"/>
          </a:solidFill>
          <a:ln w="12700">
            <a:solidFill>
              <a:srgbClr val="333333"/>
            </a:solidFill>
            <a:prstDash val="solid"/>
          </a:ln>
        </p:spPr>
      </p:sp>
      <p:sp>
        <p:nvSpPr>
          <p:cNvPr id="10" name="Text 8"/>
          <p:cNvSpPr txBox="1"/>
          <p:nvPr/>
        </p:nvSpPr>
        <p:spPr>
          <a:xfrm>
            <a:off x="4831994"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SCOPE</a:t>
            </a:r>
            <a:endParaRPr lang="en-US" sz="950" dirty="0"/>
          </a:p>
        </p:txBody>
      </p:sp>
      <p:sp>
        <p:nvSpPr>
          <p:cNvPr id="11" name="Text 9"/>
          <p:cNvSpPr txBox="1"/>
          <p:nvPr/>
        </p:nvSpPr>
        <p:spPr>
          <a:xfrm>
            <a:off x="4649114"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A country office is confined to the countries it leads. This is derived from the country record itself, so no secondary permission list exists to be maintained.</a:t>
            </a:r>
            <a:endParaRPr lang="en-US" sz="1200" dirty="0"/>
          </a:p>
        </p:txBody>
      </p:sp>
      <p:sp>
        <p:nvSpPr>
          <p:cNvPr id="12" name="Shape 10"/>
          <p:cNvSpPr/>
          <p:nvPr/>
        </p:nvSpPr>
        <p:spPr>
          <a:xfrm>
            <a:off x="8127797" y="1847088"/>
            <a:ext cx="3405530" cy="2523744"/>
          </a:xfrm>
          <a:prstGeom prst="roundRect">
            <a:avLst>
              <a:gd name="adj" fmla="val 2536"/>
            </a:avLst>
          </a:prstGeom>
          <a:solidFill>
            <a:srgbClr val="F7FAFC"/>
          </a:solidFill>
          <a:ln w="12700">
            <a:solidFill>
              <a:srgbClr val="E3EAF2"/>
            </a:solidFill>
            <a:prstDash val="solid"/>
          </a:ln>
        </p:spPr>
      </p:sp>
      <p:sp>
        <p:nvSpPr>
          <p:cNvPr id="13" name="Shape 11"/>
          <p:cNvSpPr/>
          <p:nvPr/>
        </p:nvSpPr>
        <p:spPr>
          <a:xfrm>
            <a:off x="8383829" y="2153412"/>
            <a:ext cx="82296" cy="82296"/>
          </a:xfrm>
          <a:prstGeom prst="ellipse">
            <a:avLst/>
          </a:prstGeom>
          <a:solidFill>
            <a:srgbClr val="009EDB"/>
          </a:solidFill>
          <a:ln w="12700">
            <a:solidFill>
              <a:srgbClr val="333333"/>
            </a:solidFill>
            <a:prstDash val="solid"/>
          </a:ln>
        </p:spPr>
      </p:sp>
      <p:sp>
        <p:nvSpPr>
          <p:cNvPr id="14" name="Text 12"/>
          <p:cNvSpPr txBox="1"/>
          <p:nvPr/>
        </p:nvSpPr>
        <p:spPr>
          <a:xfrm>
            <a:off x="8566709"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PROVENANCE</a:t>
            </a:r>
            <a:endParaRPr lang="en-US" sz="950" dirty="0"/>
          </a:p>
        </p:txBody>
      </p:sp>
      <p:sp>
        <p:nvSpPr>
          <p:cNvPr id="15" name="Text 13"/>
          <p:cNvSpPr txBox="1"/>
          <p:nvPr/>
        </p:nvSpPr>
        <p:spPr>
          <a:xfrm>
            <a:off x="8383829" y="2468880"/>
            <a:ext cx="2893466" cy="1664208"/>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Each record retains its author. Amendment and deletion are confined to that officer, subject to administrator override.</a:t>
            </a:r>
            <a:endParaRPr lang="en-US" sz="1200" dirty="0"/>
          </a:p>
        </p:txBody>
      </p:sp>
      <p:sp>
        <p:nvSpPr>
          <p:cNvPr id="16" name="Shape 14"/>
          <p:cNvSpPr/>
          <p:nvPr/>
        </p:nvSpPr>
        <p:spPr>
          <a:xfrm>
            <a:off x="658368" y="4663440"/>
            <a:ext cx="10874959" cy="896112"/>
          </a:xfrm>
          <a:prstGeom prst="roundRect">
            <a:avLst>
              <a:gd name="adj" fmla="val 6122"/>
            </a:avLst>
          </a:prstGeom>
          <a:solidFill>
            <a:srgbClr val="EAF6FD"/>
          </a:solidFill>
          <a:ln w="12700">
            <a:solidFill>
              <a:srgbClr val="333333"/>
            </a:solidFill>
            <a:prstDash val="solid"/>
          </a:ln>
        </p:spPr>
      </p:sp>
      <p:sp>
        <p:nvSpPr>
          <p:cNvPr id="17" name="Text 15"/>
          <p:cNvSpPr txBox="1"/>
          <p:nvPr/>
        </p:nvSpPr>
        <p:spPr>
          <a:xfrm>
            <a:off x="969264" y="4809744"/>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The institution retains its data. The platform runs on the institution’s own machine or server, and the whole record is held in one database file that can be copied, archived and queried with standard tools.</a:t>
            </a:r>
            <a:endParaRPr lang="en-US" sz="1250" dirty="0"/>
          </a:p>
        </p:txBody>
      </p:sp>
      <p:sp>
        <p:nvSpPr>
          <p:cNvPr id="18" name="Text 16"/>
          <p:cNvSpPr txBox="1"/>
          <p:nvPr/>
        </p:nvSpPr>
        <p:spPr>
          <a:xfrm>
            <a:off x="658368" y="5760720"/>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Referential integrity is enforced by the database rather than by application convention.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POSITIONING</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The platform sits between a spreadsheet and an enterprise system.</a:t>
            </a:r>
            <a:endParaRPr lang="en-US" sz="2500" dirty="0"/>
          </a:p>
        </p:txBody>
      </p:sp>
      <p:sp>
        <p:nvSpPr>
          <p:cNvPr id="4" name="Shape 2"/>
          <p:cNvSpPr/>
          <p:nvPr/>
        </p:nvSpPr>
        <p:spPr>
          <a:xfrm>
            <a:off x="658368" y="1847088"/>
            <a:ext cx="3405530" cy="2359152"/>
          </a:xfrm>
          <a:prstGeom prst="roundRect">
            <a:avLst>
              <a:gd name="adj" fmla="val 2713"/>
            </a:avLst>
          </a:prstGeom>
          <a:solidFill>
            <a:srgbClr val="F7FAFC"/>
          </a:solidFill>
          <a:ln w="12700">
            <a:solidFill>
              <a:srgbClr val="E3EAF2"/>
            </a:solidFill>
            <a:prstDash val="solid"/>
          </a:ln>
        </p:spPr>
      </p:sp>
      <p:sp>
        <p:nvSpPr>
          <p:cNvPr id="5" name="Shape 3"/>
          <p:cNvSpPr/>
          <p:nvPr/>
        </p:nvSpPr>
        <p:spPr>
          <a:xfrm>
            <a:off x="914400" y="2153412"/>
            <a:ext cx="82296" cy="82296"/>
          </a:xfrm>
          <a:prstGeom prst="ellipse">
            <a:avLst/>
          </a:prstGeom>
          <a:solidFill>
            <a:srgbClr val="009EDB"/>
          </a:solidFill>
          <a:ln w="12700">
            <a:solidFill>
              <a:srgbClr val="333333"/>
            </a:solidFill>
            <a:prstDash val="solid"/>
          </a:ln>
        </p:spPr>
      </p:sp>
      <p:sp>
        <p:nvSpPr>
          <p:cNvPr id="6" name="Text 4"/>
          <p:cNvSpPr txBox="1"/>
          <p:nvPr/>
        </p:nvSpPr>
        <p:spPr>
          <a:xfrm>
            <a:off x="1097280"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SPREADSHEETS</a:t>
            </a:r>
            <a:endParaRPr lang="en-US" sz="950" dirty="0"/>
          </a:p>
        </p:txBody>
      </p:sp>
      <p:sp>
        <p:nvSpPr>
          <p:cNvPr id="7" name="Text 5"/>
          <p:cNvSpPr txBox="1"/>
          <p:nvPr/>
        </p:nvSpPr>
        <p:spPr>
          <a:xfrm>
            <a:off x="914400" y="2468880"/>
            <a:ext cx="2893466" cy="1499616"/>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Familiar and flexible, and unmanageable at portfolio scale. Version is uncertain, and a rating is only as sound as the officer who entered it.</a:t>
            </a:r>
            <a:endParaRPr lang="en-US" sz="1200" dirty="0"/>
          </a:p>
        </p:txBody>
      </p:sp>
      <p:sp>
        <p:nvSpPr>
          <p:cNvPr id="8" name="Shape 6"/>
          <p:cNvSpPr/>
          <p:nvPr/>
        </p:nvSpPr>
        <p:spPr>
          <a:xfrm>
            <a:off x="4393082" y="1847088"/>
            <a:ext cx="3405530" cy="2359152"/>
          </a:xfrm>
          <a:prstGeom prst="roundRect">
            <a:avLst>
              <a:gd name="adj" fmla="val 2713"/>
            </a:avLst>
          </a:prstGeom>
          <a:solidFill>
            <a:srgbClr val="F7FAFC"/>
          </a:solidFill>
          <a:ln w="12700">
            <a:solidFill>
              <a:srgbClr val="E3EAF2"/>
            </a:solidFill>
            <a:prstDash val="solid"/>
          </a:ln>
        </p:spPr>
      </p:sp>
      <p:sp>
        <p:nvSpPr>
          <p:cNvPr id="9" name="Shape 7"/>
          <p:cNvSpPr/>
          <p:nvPr/>
        </p:nvSpPr>
        <p:spPr>
          <a:xfrm>
            <a:off x="4649114" y="2153412"/>
            <a:ext cx="82296" cy="82296"/>
          </a:xfrm>
          <a:prstGeom prst="ellipse">
            <a:avLst/>
          </a:prstGeom>
          <a:solidFill>
            <a:srgbClr val="009EDB"/>
          </a:solidFill>
          <a:ln w="12700">
            <a:solidFill>
              <a:srgbClr val="333333"/>
            </a:solidFill>
            <a:prstDash val="solid"/>
          </a:ln>
        </p:spPr>
      </p:sp>
      <p:sp>
        <p:nvSpPr>
          <p:cNvPr id="10" name="Text 8"/>
          <p:cNvSpPr txBox="1"/>
          <p:nvPr/>
        </p:nvSpPr>
        <p:spPr>
          <a:xfrm>
            <a:off x="4831994"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ENTERPRISE SYSTEMS</a:t>
            </a:r>
            <a:endParaRPr lang="en-US" sz="950" dirty="0"/>
          </a:p>
        </p:txBody>
      </p:sp>
      <p:sp>
        <p:nvSpPr>
          <p:cNvPr id="11" name="Text 9"/>
          <p:cNvSpPr txBox="1"/>
          <p:nvPr/>
        </p:nvSpPr>
        <p:spPr>
          <a:xfrm>
            <a:off x="4649114" y="2468880"/>
            <a:ext cx="2893466" cy="1499616"/>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Capable, and procured and configured over a comparable period. The results framework is commonly adapted to the software rather than the reverse.</a:t>
            </a:r>
            <a:endParaRPr lang="en-US" sz="1200" dirty="0"/>
          </a:p>
        </p:txBody>
      </p:sp>
      <p:sp>
        <p:nvSpPr>
          <p:cNvPr id="12" name="Shape 10"/>
          <p:cNvSpPr/>
          <p:nvPr/>
        </p:nvSpPr>
        <p:spPr>
          <a:xfrm>
            <a:off x="8127797" y="1847088"/>
            <a:ext cx="3405530" cy="2359152"/>
          </a:xfrm>
          <a:prstGeom prst="roundRect">
            <a:avLst>
              <a:gd name="adj" fmla="val 2713"/>
            </a:avLst>
          </a:prstGeom>
          <a:solidFill>
            <a:srgbClr val="F7FAFC"/>
          </a:solidFill>
          <a:ln w="12700">
            <a:solidFill>
              <a:srgbClr val="E3EAF2"/>
            </a:solidFill>
            <a:prstDash val="solid"/>
          </a:ln>
        </p:spPr>
      </p:sp>
      <p:sp>
        <p:nvSpPr>
          <p:cNvPr id="13" name="Shape 11"/>
          <p:cNvSpPr/>
          <p:nvPr/>
        </p:nvSpPr>
        <p:spPr>
          <a:xfrm>
            <a:off x="8383829" y="2153412"/>
            <a:ext cx="82296" cy="82296"/>
          </a:xfrm>
          <a:prstGeom prst="ellipse">
            <a:avLst/>
          </a:prstGeom>
          <a:solidFill>
            <a:srgbClr val="009EDB"/>
          </a:solidFill>
          <a:ln w="12700">
            <a:solidFill>
              <a:srgbClr val="333333"/>
            </a:solidFill>
            <a:prstDash val="solid"/>
          </a:ln>
        </p:spPr>
      </p:sp>
      <p:sp>
        <p:nvSpPr>
          <p:cNvPr id="14" name="Text 12"/>
          <p:cNvSpPr txBox="1"/>
          <p:nvPr/>
        </p:nvSpPr>
        <p:spPr>
          <a:xfrm>
            <a:off x="8566709" y="2093976"/>
            <a:ext cx="2710586"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THE GRASSROOTS</a:t>
            </a:r>
            <a:endParaRPr lang="en-US" sz="950" dirty="0"/>
          </a:p>
        </p:txBody>
      </p:sp>
      <p:sp>
        <p:nvSpPr>
          <p:cNvPr id="15" name="Text 13"/>
          <p:cNvSpPr txBox="1"/>
          <p:nvPr/>
        </p:nvSpPr>
        <p:spPr>
          <a:xfrm>
            <a:off x="8383829" y="2468880"/>
            <a:ext cx="2893466" cy="1499616"/>
          </a:xfrm>
          <a:prstGeom prst="rect">
            <a:avLst/>
          </a:prstGeom>
          <a:noFill/>
          <a:ln/>
        </p:spPr>
        <p:txBody>
          <a:bodyPr wrap="square" lIns="0" tIns="0" rIns="0" bIns="0" rtlCol="0" anchor="t"/>
          <a:lstStyle/>
          <a:p>
            <a:pPr indent="0" marL="0">
              <a:lnSpc>
                <a:spcPts val="1800"/>
              </a:lnSpc>
              <a:buNone/>
            </a:pPr>
            <a:r>
              <a:rPr lang="en-US" sz="1200" dirty="0">
                <a:solidFill>
                  <a:srgbClr val="47586E"/>
                </a:solidFill>
                <a:latin typeface="Calibri" pitchFamily="34" charset="0"/>
                <a:ea typeface="Calibri" pitchFamily="34" charset="-122"/>
                <a:cs typeface="Calibri" pitchFamily="34" charset="-120"/>
              </a:rPr>
              <a:t>Built for results-based management alone. It accepts the framework as the institution has written it and operates in a browser.</a:t>
            </a:r>
            <a:endParaRPr lang="en-US" sz="1200" dirty="0"/>
          </a:p>
        </p:txBody>
      </p:sp>
      <p:sp>
        <p:nvSpPr>
          <p:cNvPr id="16" name="Shape 14"/>
          <p:cNvSpPr/>
          <p:nvPr/>
        </p:nvSpPr>
        <p:spPr>
          <a:xfrm>
            <a:off x="658368" y="4443984"/>
            <a:ext cx="2513000" cy="1243584"/>
          </a:xfrm>
          <a:prstGeom prst="roundRect">
            <a:avLst>
              <a:gd name="adj" fmla="val 5147"/>
            </a:avLst>
          </a:prstGeom>
          <a:solidFill>
            <a:srgbClr val="EAF6FD"/>
          </a:solidFill>
          <a:ln w="12700">
            <a:solidFill>
              <a:srgbClr val="333333"/>
            </a:solidFill>
            <a:prstDash val="solid"/>
          </a:ln>
        </p:spPr>
      </p:sp>
      <p:sp>
        <p:nvSpPr>
          <p:cNvPr id="17" name="Text 15"/>
          <p:cNvSpPr txBox="1"/>
          <p:nvPr/>
        </p:nvSpPr>
        <p:spPr>
          <a:xfrm>
            <a:off x="896112" y="4590288"/>
            <a:ext cx="203751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1 week</a:t>
            </a:r>
            <a:endParaRPr lang="en-US" sz="2700" dirty="0"/>
          </a:p>
        </p:txBody>
      </p:sp>
      <p:sp>
        <p:nvSpPr>
          <p:cNvPr id="18" name="Text 16"/>
          <p:cNvSpPr txBox="1"/>
          <p:nvPr/>
        </p:nvSpPr>
        <p:spPr>
          <a:xfrm>
            <a:off x="896112" y="5138928"/>
            <a:ext cx="203751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from framework to operation</a:t>
            </a:r>
            <a:endParaRPr lang="en-US" sz="950" dirty="0"/>
          </a:p>
        </p:txBody>
      </p:sp>
      <p:sp>
        <p:nvSpPr>
          <p:cNvPr id="19" name="Shape 17"/>
          <p:cNvSpPr/>
          <p:nvPr/>
        </p:nvSpPr>
        <p:spPr>
          <a:xfrm>
            <a:off x="3445688" y="4443984"/>
            <a:ext cx="2513000" cy="1243584"/>
          </a:xfrm>
          <a:prstGeom prst="roundRect">
            <a:avLst>
              <a:gd name="adj" fmla="val 5147"/>
            </a:avLst>
          </a:prstGeom>
          <a:solidFill>
            <a:srgbClr val="EAF6FD"/>
          </a:solidFill>
          <a:ln w="12700">
            <a:solidFill>
              <a:srgbClr val="333333"/>
            </a:solidFill>
            <a:prstDash val="solid"/>
          </a:ln>
        </p:spPr>
      </p:sp>
      <p:sp>
        <p:nvSpPr>
          <p:cNvPr id="20" name="Text 18"/>
          <p:cNvSpPr txBox="1"/>
          <p:nvPr/>
        </p:nvSpPr>
        <p:spPr>
          <a:xfrm>
            <a:off x="3683432" y="4590288"/>
            <a:ext cx="203751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0</a:t>
            </a:r>
            <a:endParaRPr lang="en-US" sz="2700" dirty="0"/>
          </a:p>
        </p:txBody>
      </p:sp>
      <p:sp>
        <p:nvSpPr>
          <p:cNvPr id="21" name="Text 19"/>
          <p:cNvSpPr txBox="1"/>
          <p:nvPr/>
        </p:nvSpPr>
        <p:spPr>
          <a:xfrm>
            <a:off x="3683432" y="5138928"/>
            <a:ext cx="203751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software installed by users</a:t>
            </a:r>
            <a:endParaRPr lang="en-US" sz="950" dirty="0"/>
          </a:p>
        </p:txBody>
      </p:sp>
      <p:sp>
        <p:nvSpPr>
          <p:cNvPr id="22" name="Shape 20"/>
          <p:cNvSpPr/>
          <p:nvPr/>
        </p:nvSpPr>
        <p:spPr>
          <a:xfrm>
            <a:off x="6233008" y="4443984"/>
            <a:ext cx="2513000" cy="1243584"/>
          </a:xfrm>
          <a:prstGeom prst="roundRect">
            <a:avLst>
              <a:gd name="adj" fmla="val 5147"/>
            </a:avLst>
          </a:prstGeom>
          <a:solidFill>
            <a:srgbClr val="EAF6FD"/>
          </a:solidFill>
          <a:ln w="12700">
            <a:solidFill>
              <a:srgbClr val="333333"/>
            </a:solidFill>
            <a:prstDash val="solid"/>
          </a:ln>
        </p:spPr>
      </p:sp>
      <p:sp>
        <p:nvSpPr>
          <p:cNvPr id="23" name="Text 21"/>
          <p:cNvSpPr txBox="1"/>
          <p:nvPr/>
        </p:nvSpPr>
        <p:spPr>
          <a:xfrm>
            <a:off x="6470752" y="4590288"/>
            <a:ext cx="203751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2</a:t>
            </a:r>
            <a:endParaRPr lang="en-US" sz="2700" dirty="0"/>
          </a:p>
        </p:txBody>
      </p:sp>
      <p:sp>
        <p:nvSpPr>
          <p:cNvPr id="24" name="Text 22"/>
          <p:cNvSpPr txBox="1"/>
          <p:nvPr/>
        </p:nvSpPr>
        <p:spPr>
          <a:xfrm>
            <a:off x="6470752" y="5138928"/>
            <a:ext cx="203751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languages supplied, further at will</a:t>
            </a:r>
            <a:endParaRPr lang="en-US" sz="950" dirty="0"/>
          </a:p>
        </p:txBody>
      </p:sp>
      <p:sp>
        <p:nvSpPr>
          <p:cNvPr id="25" name="Shape 23"/>
          <p:cNvSpPr/>
          <p:nvPr/>
        </p:nvSpPr>
        <p:spPr>
          <a:xfrm>
            <a:off x="9020327" y="4443984"/>
            <a:ext cx="2513000" cy="1243584"/>
          </a:xfrm>
          <a:prstGeom prst="roundRect">
            <a:avLst>
              <a:gd name="adj" fmla="val 5147"/>
            </a:avLst>
          </a:prstGeom>
          <a:solidFill>
            <a:srgbClr val="EAF6FD"/>
          </a:solidFill>
          <a:ln w="12700">
            <a:solidFill>
              <a:srgbClr val="333333"/>
            </a:solidFill>
            <a:prstDash val="solid"/>
          </a:ln>
        </p:spPr>
      </p:sp>
      <p:sp>
        <p:nvSpPr>
          <p:cNvPr id="26" name="Text 24"/>
          <p:cNvSpPr txBox="1"/>
          <p:nvPr/>
        </p:nvSpPr>
        <p:spPr>
          <a:xfrm>
            <a:off x="9258071" y="4590288"/>
            <a:ext cx="2037512" cy="530352"/>
          </a:xfrm>
          <a:prstGeom prst="rect">
            <a:avLst/>
          </a:prstGeom>
          <a:noFill/>
          <a:ln/>
        </p:spPr>
        <p:txBody>
          <a:bodyPr wrap="square" lIns="0" tIns="0" rIns="0" bIns="0" rtlCol="0" anchor="ctr"/>
          <a:lstStyle/>
          <a:p>
            <a:pPr indent="0" marL="0">
              <a:buNone/>
            </a:pPr>
            <a:r>
              <a:rPr lang="en-US" sz="2700" b="1" dirty="0">
                <a:solidFill>
                  <a:srgbClr val="0072A8"/>
                </a:solidFill>
                <a:latin typeface="Century Schoolbook" pitchFamily="34" charset="0"/>
                <a:ea typeface="Century Schoolbook" pitchFamily="34" charset="-122"/>
                <a:cs typeface="Century Schoolbook" pitchFamily="34" charset="-120"/>
              </a:rPr>
              <a:t>1</a:t>
            </a:r>
            <a:endParaRPr lang="en-US" sz="2700" dirty="0"/>
          </a:p>
        </p:txBody>
      </p:sp>
      <p:sp>
        <p:nvSpPr>
          <p:cNvPr id="27" name="Text 25"/>
          <p:cNvSpPr txBox="1"/>
          <p:nvPr/>
        </p:nvSpPr>
        <p:spPr>
          <a:xfrm>
            <a:off x="9258071" y="5138928"/>
            <a:ext cx="2037512" cy="384048"/>
          </a:xfrm>
          <a:prstGeom prst="rect">
            <a:avLst/>
          </a:prstGeom>
          <a:noFill/>
          <a:ln/>
        </p:spPr>
        <p:txBody>
          <a:bodyPr wrap="square" lIns="0" tIns="0" rIns="0" bIns="0" rtlCol="0" anchor="ctr"/>
          <a:lstStyle/>
          <a:p>
            <a:pPr indent="0" marL="0">
              <a:lnSpc>
                <a:spcPts val="1300"/>
              </a:lnSpc>
              <a:buNone/>
            </a:pPr>
            <a:r>
              <a:rPr lang="en-US" sz="950" dirty="0">
                <a:solidFill>
                  <a:srgbClr val="47586E"/>
                </a:solidFill>
                <a:latin typeface="Calibri" pitchFamily="34" charset="0"/>
                <a:ea typeface="Calibri" pitchFamily="34" charset="-122"/>
                <a:cs typeface="Calibri" pitchFamily="34" charset="-120"/>
              </a:rPr>
              <a:t>file holds the institutional record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IMPLEMENTATION</a:t>
            </a:r>
            <a:endParaRPr lang="en-US" sz="1000" dirty="0"/>
          </a:p>
        </p:txBody>
      </p:sp>
      <p:sp>
        <p:nvSpPr>
          <p:cNvPr id="3" name="Text 1"/>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Deployment is a configuration exercise measured in days.</a:t>
            </a:r>
            <a:endParaRPr lang="en-US" sz="2500" dirty="0"/>
          </a:p>
        </p:txBody>
      </p:sp>
      <p:sp>
        <p:nvSpPr>
          <p:cNvPr id="4" name="Shape 2"/>
          <p:cNvSpPr/>
          <p:nvPr/>
        </p:nvSpPr>
        <p:spPr>
          <a:xfrm>
            <a:off x="658368" y="2523744"/>
            <a:ext cx="10874959" cy="12802"/>
          </a:xfrm>
          <a:prstGeom prst="rect">
            <a:avLst/>
          </a:prstGeom>
          <a:solidFill>
            <a:srgbClr val="E3EAF2"/>
          </a:solidFill>
          <a:ln w="12700">
            <a:solidFill>
              <a:srgbClr val="333333"/>
            </a:solidFill>
            <a:prstDash val="solid"/>
          </a:ln>
        </p:spPr>
      </p:sp>
      <p:sp>
        <p:nvSpPr>
          <p:cNvPr id="5" name="Shape 3"/>
          <p:cNvSpPr/>
          <p:nvPr/>
        </p:nvSpPr>
        <p:spPr>
          <a:xfrm>
            <a:off x="1912582" y="2432304"/>
            <a:ext cx="210312" cy="210312"/>
          </a:xfrm>
          <a:prstGeom prst="ellipse">
            <a:avLst/>
          </a:prstGeom>
          <a:solidFill>
            <a:srgbClr val="009EDB"/>
          </a:solidFill>
          <a:ln w="38100">
            <a:solidFill>
              <a:srgbClr val="FFFFFF"/>
            </a:solidFill>
            <a:prstDash val="solid"/>
          </a:ln>
        </p:spPr>
      </p:sp>
      <p:sp>
        <p:nvSpPr>
          <p:cNvPr id="6" name="Text 4"/>
          <p:cNvSpPr txBox="1"/>
          <p:nvPr/>
        </p:nvSpPr>
        <p:spPr>
          <a:xfrm>
            <a:off x="74980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FRAMEWORK</a:t>
            </a:r>
            <a:endParaRPr lang="en-US" sz="1000" dirty="0"/>
          </a:p>
        </p:txBody>
      </p:sp>
      <p:sp>
        <p:nvSpPr>
          <p:cNvPr id="7" name="Text 5"/>
          <p:cNvSpPr txBox="1"/>
          <p:nvPr/>
        </p:nvSpPr>
        <p:spPr>
          <a:xfrm>
            <a:off x="74980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Impacts, outcomes, outputs and indicator definitions are loaded with their baselines and targets.</a:t>
            </a:r>
            <a:endParaRPr lang="en-US" sz="1100" dirty="0"/>
          </a:p>
        </p:txBody>
      </p:sp>
      <p:sp>
        <p:nvSpPr>
          <p:cNvPr id="8" name="Shape 6"/>
          <p:cNvSpPr/>
          <p:nvPr/>
        </p:nvSpPr>
        <p:spPr>
          <a:xfrm>
            <a:off x="4631322" y="2432304"/>
            <a:ext cx="210312" cy="210312"/>
          </a:xfrm>
          <a:prstGeom prst="ellipse">
            <a:avLst/>
          </a:prstGeom>
          <a:solidFill>
            <a:srgbClr val="009EDB"/>
          </a:solidFill>
          <a:ln w="38100">
            <a:solidFill>
              <a:srgbClr val="FFFFFF"/>
            </a:solidFill>
            <a:prstDash val="solid"/>
          </a:ln>
        </p:spPr>
      </p:sp>
      <p:sp>
        <p:nvSpPr>
          <p:cNvPr id="9" name="Text 7"/>
          <p:cNvSpPr txBox="1"/>
          <p:nvPr/>
        </p:nvSpPr>
        <p:spPr>
          <a:xfrm>
            <a:off x="346854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REFERENCE DATA</a:t>
            </a:r>
            <a:endParaRPr lang="en-US" sz="1000" dirty="0"/>
          </a:p>
        </p:txBody>
      </p:sp>
      <p:sp>
        <p:nvSpPr>
          <p:cNvPr id="10" name="Text 8"/>
          <p:cNvSpPr txBox="1"/>
          <p:nvPr/>
        </p:nvSpPr>
        <p:spPr>
          <a:xfrm>
            <a:off x="346854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Countries, donors, partners, beneficiary categories, units and frequencies are mapped.</a:t>
            </a:r>
            <a:endParaRPr lang="en-US" sz="1100" dirty="0"/>
          </a:p>
        </p:txBody>
      </p:sp>
      <p:sp>
        <p:nvSpPr>
          <p:cNvPr id="11" name="Shape 9"/>
          <p:cNvSpPr/>
          <p:nvPr/>
        </p:nvSpPr>
        <p:spPr>
          <a:xfrm>
            <a:off x="7350061" y="2432304"/>
            <a:ext cx="210312" cy="210312"/>
          </a:xfrm>
          <a:prstGeom prst="ellipse">
            <a:avLst/>
          </a:prstGeom>
          <a:solidFill>
            <a:srgbClr val="009EDB"/>
          </a:solidFill>
          <a:ln w="38100">
            <a:solidFill>
              <a:srgbClr val="FFFFFF"/>
            </a:solidFill>
            <a:prstDash val="solid"/>
          </a:ln>
        </p:spPr>
      </p:sp>
      <p:sp>
        <p:nvSpPr>
          <p:cNvPr id="12" name="Text 10"/>
          <p:cNvSpPr txBox="1"/>
          <p:nvPr/>
        </p:nvSpPr>
        <p:spPr>
          <a:xfrm>
            <a:off x="6187288"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HISTORY</a:t>
            </a:r>
            <a:endParaRPr lang="en-US" sz="1000" dirty="0"/>
          </a:p>
        </p:txBody>
      </p:sp>
      <p:sp>
        <p:nvSpPr>
          <p:cNvPr id="13" name="Text 11"/>
          <p:cNvSpPr txBox="1"/>
          <p:nvPr/>
        </p:nvSpPr>
        <p:spPr>
          <a:xfrm>
            <a:off x="6187288"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Past reporting is imported, so trend and performance are available from the first day.</a:t>
            </a:r>
            <a:endParaRPr lang="en-US" sz="1100" dirty="0"/>
          </a:p>
        </p:txBody>
      </p:sp>
      <p:sp>
        <p:nvSpPr>
          <p:cNvPr id="14" name="Shape 12"/>
          <p:cNvSpPr/>
          <p:nvPr/>
        </p:nvSpPr>
        <p:spPr>
          <a:xfrm>
            <a:off x="10068801" y="2432304"/>
            <a:ext cx="210312" cy="210312"/>
          </a:xfrm>
          <a:prstGeom prst="ellipse">
            <a:avLst/>
          </a:prstGeom>
          <a:solidFill>
            <a:srgbClr val="009EDB"/>
          </a:solidFill>
          <a:ln w="38100">
            <a:solidFill>
              <a:srgbClr val="FFFFFF"/>
            </a:solidFill>
            <a:prstDash val="solid"/>
          </a:ln>
        </p:spPr>
      </p:sp>
      <p:sp>
        <p:nvSpPr>
          <p:cNvPr id="15" name="Text 13"/>
          <p:cNvSpPr txBox="1"/>
          <p:nvPr/>
        </p:nvSpPr>
        <p:spPr>
          <a:xfrm>
            <a:off x="8906027" y="2761488"/>
            <a:ext cx="2535860" cy="274320"/>
          </a:xfrm>
          <a:prstGeom prst="rect">
            <a:avLst/>
          </a:prstGeom>
          <a:noFill/>
          <a:ln/>
        </p:spPr>
        <p:txBody>
          <a:bodyPr wrap="square" lIns="0" tIns="0" rIns="0" bIns="0" rtlCol="0" anchor="ctr"/>
          <a:lstStyle/>
          <a:p>
            <a:pPr algn="ctr" indent="0" marL="0">
              <a:buNone/>
            </a:pPr>
            <a:r>
              <a:rPr lang="en-US" sz="1000" b="1" spc="60" kern="0" dirty="0">
                <a:solidFill>
                  <a:srgbClr val="0072A8"/>
                </a:solidFill>
                <a:latin typeface="Calibri" pitchFamily="34" charset="0"/>
                <a:ea typeface="Calibri" pitchFamily="34" charset="-122"/>
                <a:cs typeface="Calibri" pitchFamily="34" charset="-120"/>
              </a:rPr>
              <a:t>ACCOUNTABILITY</a:t>
            </a:r>
            <a:endParaRPr lang="en-US" sz="1000" dirty="0"/>
          </a:p>
        </p:txBody>
      </p:sp>
      <p:sp>
        <p:nvSpPr>
          <p:cNvPr id="16" name="Text 14"/>
          <p:cNvSpPr txBox="1"/>
          <p:nvPr/>
        </p:nvSpPr>
        <p:spPr>
          <a:xfrm>
            <a:off x="8906027" y="3054096"/>
            <a:ext cx="2535860" cy="868680"/>
          </a:xfrm>
          <a:prstGeom prst="rect">
            <a:avLst/>
          </a:prstGeom>
          <a:noFill/>
          <a:ln/>
        </p:spPr>
        <p:txBody>
          <a:bodyPr wrap="square" lIns="0" tIns="0" rIns="0" bIns="0" rtlCol="0" anchor="ctr"/>
          <a:lstStyle/>
          <a:p>
            <a:pPr algn="ctr" indent="0" marL="0">
              <a:lnSpc>
                <a:spcPts val="1500"/>
              </a:lnSpc>
              <a:buNone/>
            </a:pPr>
            <a:r>
              <a:rPr lang="en-US" sz="1100" dirty="0">
                <a:solidFill>
                  <a:srgbClr val="47586E"/>
                </a:solidFill>
                <a:latin typeface="Calibri" pitchFamily="34" charset="0"/>
                <a:ea typeface="Calibri" pitchFamily="34" charset="-122"/>
                <a:cs typeface="Calibri" pitchFamily="34" charset="-120"/>
              </a:rPr>
              <a:t>An officer is named against each result. Access and monthly reporting follow from that assignment.</a:t>
            </a:r>
            <a:endParaRPr lang="en-US" sz="1100" dirty="0"/>
          </a:p>
        </p:txBody>
      </p:sp>
      <p:sp>
        <p:nvSpPr>
          <p:cNvPr id="17" name="Shape 15"/>
          <p:cNvSpPr/>
          <p:nvPr/>
        </p:nvSpPr>
        <p:spPr>
          <a:xfrm>
            <a:off x="658368" y="4882896"/>
            <a:ext cx="10874959" cy="896112"/>
          </a:xfrm>
          <a:prstGeom prst="roundRect">
            <a:avLst>
              <a:gd name="adj" fmla="val 6122"/>
            </a:avLst>
          </a:prstGeom>
          <a:solidFill>
            <a:srgbClr val="EAF6FD"/>
          </a:solidFill>
          <a:ln w="12700">
            <a:solidFill>
              <a:srgbClr val="333333"/>
            </a:solidFill>
            <a:prstDash val="solid"/>
          </a:ln>
        </p:spPr>
      </p:sp>
      <p:sp>
        <p:nvSpPr>
          <p:cNvPr id="18" name="Text 16"/>
          <p:cNvSpPr txBox="1"/>
          <p:nvPr/>
        </p:nvSpPr>
        <p:spPr>
          <a:xfrm>
            <a:off x="969264" y="5029200"/>
            <a:ext cx="10253167" cy="621792"/>
          </a:xfrm>
          <a:prstGeom prst="rect">
            <a:avLst/>
          </a:prstGeom>
          <a:noFill/>
          <a:ln/>
        </p:spPr>
        <p:txBody>
          <a:bodyPr wrap="square" lIns="0" tIns="0" rIns="0" bIns="0" rtlCol="0" anchor="ctr"/>
          <a:lstStyle/>
          <a:p>
            <a:pPr indent="0" marL="0">
              <a:lnSpc>
                <a:spcPts val="1800"/>
              </a:lnSpc>
              <a:buNone/>
            </a:pPr>
            <a:r>
              <a:rPr lang="en-US" sz="1250" dirty="0">
                <a:solidFill>
                  <a:srgbClr val="13293F"/>
                </a:solidFill>
                <a:latin typeface="Calibri" pitchFamily="34" charset="0"/>
                <a:ea typeface="Calibri" pitchFamily="34" charset="-122"/>
                <a:cs typeface="Calibri" pitchFamily="34" charset="-120"/>
              </a:rPr>
              <a:t>No development is required. A language, a beneficiary category or a reference list is added through the interface, without a release and without a schema change.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9EDB"/>
          </a:solidFill>
          <a:ln w="12700">
            <a:solidFill>
              <a:srgbClr val="333333"/>
            </a:solidFill>
            <a:prstDash val="solid"/>
          </a:ln>
        </p:spPr>
      </p:sp>
      <p:sp>
        <p:nvSpPr>
          <p:cNvPr id="3" name="Text 1"/>
          <p:cNvSpPr txBox="1"/>
          <p:nvPr/>
        </p:nvSpPr>
        <p:spPr>
          <a:xfrm>
            <a:off x="658368" y="475488"/>
            <a:ext cx="10874959" cy="256032"/>
          </a:xfrm>
          <a:prstGeom prst="rect">
            <a:avLst/>
          </a:prstGeom>
          <a:noFill/>
          <a:ln/>
        </p:spPr>
        <p:txBody>
          <a:bodyPr wrap="square" lIns="0" tIns="0" rIns="0" bIns="0" rtlCol="0" anchor="ctr"/>
          <a:lstStyle/>
          <a:p>
            <a:pPr indent="0" marL="0">
              <a:buNone/>
            </a:pPr>
            <a:r>
              <a:rPr lang="en-US" sz="1000" b="1" spc="240" kern="0" dirty="0">
                <a:solidFill>
                  <a:srgbClr val="009EDB"/>
                </a:solidFill>
                <a:latin typeface="Calibri" pitchFamily="34" charset="0"/>
                <a:ea typeface="Calibri" pitchFamily="34" charset="-122"/>
                <a:cs typeface="Calibri" pitchFamily="34" charset="-120"/>
              </a:rPr>
              <a:t>PROPOSED NEXT STEP</a:t>
            </a:r>
            <a:endParaRPr lang="en-US" sz="1000" dirty="0"/>
          </a:p>
        </p:txBody>
      </p:sp>
      <p:sp>
        <p:nvSpPr>
          <p:cNvPr id="4" name="Text 2"/>
          <p:cNvSpPr txBox="1"/>
          <p:nvPr/>
        </p:nvSpPr>
        <p:spPr>
          <a:xfrm>
            <a:off x="658368" y="804672"/>
            <a:ext cx="10874959" cy="841248"/>
          </a:xfrm>
          <a:prstGeom prst="rect">
            <a:avLst/>
          </a:prstGeom>
          <a:noFill/>
          <a:ln/>
        </p:spPr>
        <p:txBody>
          <a:bodyPr wrap="square" lIns="0" tIns="0" rIns="0" bIns="0" rtlCol="0" anchor="ctr"/>
          <a:lstStyle/>
          <a:p>
            <a:pPr indent="0" marL="0">
              <a:lnSpc>
                <a:spcPts val="3200"/>
              </a:lnSpc>
              <a:buNone/>
            </a:pPr>
            <a:r>
              <a:rPr lang="en-US" sz="2500" b="1" dirty="0">
                <a:solidFill>
                  <a:srgbClr val="13293F"/>
                </a:solidFill>
                <a:latin typeface="Century Schoolbook" pitchFamily="34" charset="0"/>
                <a:ea typeface="Century Schoolbook" pitchFamily="34" charset="-122"/>
                <a:cs typeface="Century Schoolbook" pitchFamily="34" charset="-120"/>
              </a:rPr>
              <a:t>A scoped pilot on your own results framework.</a:t>
            </a:r>
            <a:endParaRPr lang="en-US" sz="2500" dirty="0"/>
          </a:p>
        </p:txBody>
      </p:sp>
      <p:sp>
        <p:nvSpPr>
          <p:cNvPr id="5" name="Text 3"/>
          <p:cNvSpPr txBox="1"/>
          <p:nvPr/>
        </p:nvSpPr>
        <p:spPr>
          <a:xfrm>
            <a:off x="658368" y="1847088"/>
            <a:ext cx="9046159" cy="969264"/>
          </a:xfrm>
          <a:prstGeom prst="rect">
            <a:avLst/>
          </a:prstGeom>
          <a:noFill/>
          <a:ln/>
        </p:spPr>
        <p:txBody>
          <a:bodyPr wrap="square" lIns="0" tIns="0" rIns="0" bIns="0" rtlCol="0" anchor="ctr"/>
          <a:lstStyle/>
          <a:p>
            <a:pPr indent="0" marL="0">
              <a:lnSpc>
                <a:spcPts val="2000"/>
              </a:lnSpc>
              <a:buNone/>
            </a:pPr>
            <a:r>
              <a:rPr lang="en-US" sz="1300" dirty="0">
                <a:solidFill>
                  <a:srgbClr val="47586E"/>
                </a:solidFill>
                <a:latin typeface="Calibri" pitchFamily="34" charset="0"/>
                <a:ea typeface="Calibri" pitchFamily="34" charset="-122"/>
                <a:cs typeface="Calibri" pitchFamily="34" charset="-120"/>
              </a:rPr>
              <a:t>The platform is open for evaluation. It is loaded with demonstration data only, so every screen can be opened and every control exercised without consequence. Nothing shown there describes a real programme, and no action taken during evaluation affects any record of yours.</a:t>
            </a:r>
            <a:endParaRPr lang="en-US" sz="1300" dirty="0"/>
          </a:p>
        </p:txBody>
      </p:sp>
      <p:sp>
        <p:nvSpPr>
          <p:cNvPr id="6" name="Shape 4"/>
          <p:cNvSpPr/>
          <p:nvPr/>
        </p:nvSpPr>
        <p:spPr>
          <a:xfrm>
            <a:off x="658368" y="3218688"/>
            <a:ext cx="5272888" cy="1755648"/>
          </a:xfrm>
          <a:prstGeom prst="roundRect">
            <a:avLst>
              <a:gd name="adj" fmla="val 3646"/>
            </a:avLst>
          </a:prstGeom>
          <a:solidFill>
            <a:srgbClr val="F7FAFC"/>
          </a:solidFill>
          <a:ln w="12700">
            <a:solidFill>
              <a:srgbClr val="E3EAF2"/>
            </a:solidFill>
            <a:prstDash val="solid"/>
          </a:ln>
        </p:spPr>
      </p:sp>
      <p:sp>
        <p:nvSpPr>
          <p:cNvPr id="7" name="Shape 5"/>
          <p:cNvSpPr/>
          <p:nvPr/>
        </p:nvSpPr>
        <p:spPr>
          <a:xfrm>
            <a:off x="932688" y="3529584"/>
            <a:ext cx="82296" cy="82296"/>
          </a:xfrm>
          <a:prstGeom prst="ellipse">
            <a:avLst/>
          </a:prstGeom>
          <a:solidFill>
            <a:srgbClr val="009EDB"/>
          </a:solidFill>
          <a:ln w="12700">
            <a:solidFill>
              <a:srgbClr val="333333"/>
            </a:solidFill>
            <a:prstDash val="solid"/>
          </a:ln>
        </p:spPr>
      </p:sp>
      <p:sp>
        <p:nvSpPr>
          <p:cNvPr id="8" name="Text 6"/>
          <p:cNvSpPr txBox="1"/>
          <p:nvPr/>
        </p:nvSpPr>
        <p:spPr>
          <a:xfrm>
            <a:off x="1115568" y="3465576"/>
            <a:ext cx="454136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EVALUATE</a:t>
            </a:r>
            <a:endParaRPr lang="en-US" sz="950" dirty="0"/>
          </a:p>
        </p:txBody>
      </p:sp>
      <p:sp>
        <p:nvSpPr>
          <p:cNvPr id="9" name="Text 7"/>
          <p:cNvSpPr txBox="1"/>
          <p:nvPr/>
        </p:nvSpPr>
        <p:spPr>
          <a:xfrm>
            <a:off x="932688" y="3822192"/>
            <a:ext cx="4724248" cy="310896"/>
          </a:xfrm>
          <a:prstGeom prst="rect">
            <a:avLst/>
          </a:prstGeom>
          <a:noFill/>
          <a:ln/>
        </p:spPr>
        <p:txBody>
          <a:bodyPr wrap="square" lIns="0" tIns="0" rIns="0" bIns="0" rtlCol="0" anchor="ctr"/>
          <a:lstStyle/>
          <a:p>
            <a:pP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thegrassroots.github.io/platform</a:t>
            </a:r>
            <a:endParaRPr lang="en-US" sz="1400" dirty="0"/>
          </a:p>
        </p:txBody>
      </p:sp>
      <p:sp>
        <p:nvSpPr>
          <p:cNvPr id="10" name="Text 8"/>
          <p:cNvSpPr txBox="1"/>
          <p:nvPr/>
        </p:nvSpPr>
        <p:spPr>
          <a:xfrm>
            <a:off x="932688" y="4206240"/>
            <a:ext cx="4724248" cy="475488"/>
          </a:xfrm>
          <a:prstGeom prst="rect">
            <a:avLst/>
          </a:prstGeom>
          <a:noFill/>
          <a:ln/>
        </p:spPr>
        <p:txBody>
          <a:bodyPr wrap="square" lIns="0" tIns="0" rIns="0" bIns="0" rtlCol="0" anchor="ctr"/>
          <a:lstStyle/>
          <a:p>
            <a:pPr indent="0" marL="0">
              <a:lnSpc>
                <a:spcPts val="1500"/>
              </a:lnSpc>
              <a:buNone/>
            </a:pPr>
            <a:r>
              <a:rPr lang="en-US" sz="1100" dirty="0">
                <a:solidFill>
                  <a:srgbClr val="47586E"/>
                </a:solidFill>
                <a:latin typeface="Calibri" pitchFamily="34" charset="0"/>
                <a:ea typeface="Calibri" pitchFamily="34" charset="-122"/>
                <a:cs typeface="Calibri" pitchFamily="34" charset="-120"/>
              </a:rPr>
              <a:t>Credentials demo / demo. The language control is at the top of the screen.</a:t>
            </a:r>
            <a:endParaRPr lang="en-US" sz="1100" dirty="0"/>
          </a:p>
        </p:txBody>
      </p:sp>
      <p:sp>
        <p:nvSpPr>
          <p:cNvPr id="11" name="Shape 9"/>
          <p:cNvSpPr/>
          <p:nvPr/>
        </p:nvSpPr>
        <p:spPr>
          <a:xfrm>
            <a:off x="6260440" y="3218688"/>
            <a:ext cx="5272888" cy="1755648"/>
          </a:xfrm>
          <a:prstGeom prst="roundRect">
            <a:avLst>
              <a:gd name="adj" fmla="val 3646"/>
            </a:avLst>
          </a:prstGeom>
          <a:solidFill>
            <a:srgbClr val="EAF6FD"/>
          </a:solidFill>
          <a:ln w="12700">
            <a:solidFill>
              <a:srgbClr val="333333"/>
            </a:solidFill>
            <a:prstDash val="solid"/>
          </a:ln>
        </p:spPr>
      </p:sp>
      <p:sp>
        <p:nvSpPr>
          <p:cNvPr id="12" name="Shape 10"/>
          <p:cNvSpPr/>
          <p:nvPr/>
        </p:nvSpPr>
        <p:spPr>
          <a:xfrm>
            <a:off x="6534760" y="3529584"/>
            <a:ext cx="82296" cy="82296"/>
          </a:xfrm>
          <a:prstGeom prst="ellipse">
            <a:avLst/>
          </a:prstGeom>
          <a:solidFill>
            <a:srgbClr val="009EDB"/>
          </a:solidFill>
          <a:ln w="12700">
            <a:solidFill>
              <a:srgbClr val="333333"/>
            </a:solidFill>
            <a:prstDash val="solid"/>
          </a:ln>
        </p:spPr>
      </p:sp>
      <p:sp>
        <p:nvSpPr>
          <p:cNvPr id="13" name="Text 11"/>
          <p:cNvSpPr txBox="1"/>
          <p:nvPr/>
        </p:nvSpPr>
        <p:spPr>
          <a:xfrm>
            <a:off x="6717640" y="3465576"/>
            <a:ext cx="4541368" cy="256032"/>
          </a:xfrm>
          <a:prstGeom prst="rect">
            <a:avLst/>
          </a:prstGeom>
          <a:noFill/>
          <a:ln/>
        </p:spPr>
        <p:txBody>
          <a:bodyPr wrap="square" lIns="0" tIns="0" rIns="0" bIns="0" rtlCol="0" anchor="ctr"/>
          <a:lstStyle/>
          <a:p>
            <a:pPr indent="0" marL="0">
              <a:buNone/>
            </a:pPr>
            <a:r>
              <a:rPr lang="en-US" sz="950" b="1" spc="150" kern="0" dirty="0">
                <a:solidFill>
                  <a:srgbClr val="0072A8"/>
                </a:solidFill>
                <a:latin typeface="Calibri" pitchFamily="34" charset="0"/>
                <a:ea typeface="Calibri" pitchFamily="34" charset="-122"/>
                <a:cs typeface="Calibri" pitchFamily="34" charset="-120"/>
              </a:rPr>
              <a:t>DISCUSS</a:t>
            </a:r>
            <a:endParaRPr lang="en-US" sz="950" dirty="0"/>
          </a:p>
        </p:txBody>
      </p:sp>
      <p:sp>
        <p:nvSpPr>
          <p:cNvPr id="14" name="Text 12"/>
          <p:cNvSpPr txBox="1"/>
          <p:nvPr/>
        </p:nvSpPr>
        <p:spPr>
          <a:xfrm>
            <a:off x="6534760" y="3822192"/>
            <a:ext cx="4724248" cy="310896"/>
          </a:xfrm>
          <a:prstGeom prst="rect">
            <a:avLst/>
          </a:prstGeom>
          <a:noFill/>
          <a:ln/>
        </p:spPr>
        <p:txBody>
          <a:bodyPr wrap="square" lIns="0" tIns="0" rIns="0" bIns="0" rtlCol="0" anchor="ctr"/>
          <a:lstStyle/>
          <a:p>
            <a:pPr indent="0" marL="0">
              <a:buNone/>
            </a:pPr>
            <a:r>
              <a:rPr lang="en-US" sz="1400" b="1" dirty="0">
                <a:solidFill>
                  <a:srgbClr val="13293F"/>
                </a:solidFill>
                <a:latin typeface="Century Schoolbook" pitchFamily="34" charset="0"/>
                <a:ea typeface="Century Schoolbook" pitchFamily="34" charset="-122"/>
                <a:cs typeface="Century Schoolbook" pitchFamily="34" charset="-120"/>
              </a:rPr>
              <a:t>grassrootstrack@outlook.com</a:t>
            </a:r>
            <a:endParaRPr lang="en-US" sz="1400" dirty="0"/>
          </a:p>
        </p:txBody>
      </p:sp>
      <p:sp>
        <p:nvSpPr>
          <p:cNvPr id="15" name="Text 13"/>
          <p:cNvSpPr txBox="1"/>
          <p:nvPr/>
        </p:nvSpPr>
        <p:spPr>
          <a:xfrm>
            <a:off x="6534760" y="4206240"/>
            <a:ext cx="4724248" cy="475488"/>
          </a:xfrm>
          <a:prstGeom prst="rect">
            <a:avLst/>
          </a:prstGeom>
          <a:noFill/>
          <a:ln/>
        </p:spPr>
        <p:txBody>
          <a:bodyPr wrap="square" lIns="0" tIns="0" rIns="0" bIns="0" rtlCol="0" anchor="ctr"/>
          <a:lstStyle/>
          <a:p>
            <a:pPr indent="0" marL="0">
              <a:lnSpc>
                <a:spcPts val="1500"/>
              </a:lnSpc>
              <a:buNone/>
            </a:pPr>
            <a:r>
              <a:rPr lang="en-US" sz="1100" dirty="0">
                <a:solidFill>
                  <a:srgbClr val="47586E"/>
                </a:solidFill>
                <a:latin typeface="Calibri" pitchFamily="34" charset="0"/>
                <a:ea typeface="Calibri" pitchFamily="34" charset="-122"/>
                <a:cs typeface="Calibri" pitchFamily="34" charset="-120"/>
              </a:rPr>
              <a:t>To agree the scope of a pilot and the framework it would be loaded with.</a:t>
            </a:r>
            <a:endParaRPr lang="en-US" sz="1100" dirty="0"/>
          </a:p>
        </p:txBody>
      </p:sp>
      <p:sp>
        <p:nvSpPr>
          <p:cNvPr id="16" name="Text 14"/>
          <p:cNvSpPr txBox="1"/>
          <p:nvPr/>
        </p:nvSpPr>
        <p:spPr>
          <a:xfrm>
            <a:off x="658368" y="5394960"/>
            <a:ext cx="10874959" cy="566928"/>
          </a:xfrm>
          <a:prstGeom prst="rect">
            <a:avLst/>
          </a:prstGeom>
          <a:noFill/>
          <a:ln/>
        </p:spPr>
        <p:txBody>
          <a:bodyPr wrap="square" lIns="0" tIns="0" rIns="0" bIns="0" rtlCol="0" anchor="ctr"/>
          <a:lstStyle/>
          <a:p>
            <a:pPr indent="0" marL="0">
              <a:lnSpc>
                <a:spcPts val="1500"/>
              </a:lnSpc>
              <a:buNone/>
            </a:pPr>
            <a:r>
              <a:rPr lang="en-US" sz="1050" dirty="0">
                <a:solidFill>
                  <a:srgbClr val="8496AB"/>
                </a:solidFill>
                <a:latin typeface="Calibri" pitchFamily="34" charset="0"/>
                <a:ea typeface="Calibri" pitchFamily="34" charset="-122"/>
                <a:cs typeface="Calibri" pitchFamily="34" charset="-120"/>
              </a:rPr>
              <a:t>A pilot requires the results framework, the reference lists and a named officer for each result. Nothing further is asked of the institution.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Grassroots - Platform Overview</dc:title>
  <dc:subject>Results-based monitoring and evaluation for public institutions</dc:subject>
  <dc:creator>PptxGenJS</dc:creator>
  <cp:lastModifiedBy>PptxGenJS</cp:lastModifiedBy>
  <cp:revision>1</cp:revision>
  <dcterms:created xsi:type="dcterms:W3CDTF">2026-09-08T02:19:40Z</dcterms:created>
  <dcterms:modified xsi:type="dcterms:W3CDTF">2026-09-08T02:19:40Z</dcterms:modified>
</cp:coreProperties>
</file>